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png" ContentType="image/png"/>
  <Default Extension="gif" ContentType="image/gif"/>
  <Default Extension="m4v" ContentType="video/mp4"/>
  <Default Extension="mp4" ContentType="video/mp4"/>
  <Default Extension="svg" ContentType="image/svg+xml"/>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8"/>
  </p:notesMasterIdLst>
  <p:sldSz cx="12192000" cy="6858000" type="custom"/>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13"/>
  </p:normalViewPr>
  <p:slideViewPr>
    <p:cSldViewPr snapToGrid="0" snapToObjects="1">
      <p:cViewPr varScale="1">
        <p:scale>
          <a:sx n="119" d="100"/>
          <a:sy n="119" d="100"/>
        </p:scale>
        <p:origin x="31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  <Relationship Id="rId1" Target="slideMasters/slideMaster1.xml" Type="http://schemas.openxmlformats.org/officeDocument/2006/relationships/slideMaster"/>  <Relationship Id="rId2" Target="slides/slide1.xml" Type="http://schemas.openxmlformats.org/officeDocument/2006/relationships/slide"/>  <Relationship Id="rId3" Target="slides/slide2.xml" Type="http://schemas.openxmlformats.org/officeDocument/2006/relationships/slide"/>  <Relationship Id="rId4" Target="slides/slide3.xml" Type="http://schemas.openxmlformats.org/officeDocument/2006/relationships/slide"/>  <Relationship Id="rId5" Target="slides/slide4.xml" Type="http://schemas.openxmlformats.org/officeDocument/2006/relationships/slide"/>  <Relationship Id="rId6" Target="slides/slide5.xml" Type="http://schemas.openxmlformats.org/officeDocument/2006/relationships/slide"/>  <Relationship Id="rId7" Target="slides/slide6.xml" Type="http://schemas.openxmlformats.org/officeDocument/2006/relationships/slide"/>  <Relationship Id="rId8" Target="slides/slide7.xml" Type="http://schemas.openxmlformats.org/officeDocument/2006/relationships/slide"/>  <Relationship Id="rId9" Target="slides/slide8.xml" Type="http://schemas.openxmlformats.org/officeDocument/2006/relationships/slide"/>  <Relationship Id="rId10" Target="slides/slide9.xml" Type="http://schemas.openxmlformats.org/officeDocument/2006/relationships/slide"/>  <Relationship Id="rId11" Target="slides/slide10.xml" Type="http://schemas.openxmlformats.org/officeDocument/2006/relationships/slide"/>  <Relationship Id="rId12" Target="slides/slide11.xml" Type="http://schemas.openxmlformats.org/officeDocument/2006/relationships/slide"/>  <Relationship Id="rId13" Target="slides/slide12.xml" Type="http://schemas.openxmlformats.org/officeDocument/2006/relationships/slide"/>  <Relationship Id="rId14" Type="http://schemas.openxmlformats.org/officeDocument/2006/relationships/presProps" Target="presProps.xml"/>  <Relationship Id="rId15" Type="http://schemas.openxmlformats.org/officeDocument/2006/relationships/viewProps" Target="viewProps.xml"/>  <Relationship Id="rId16" Type="http://schemas.openxmlformats.org/officeDocument/2006/relationships/theme" Target="theme/theme1.xml"/>  <Relationship Id="rId17" Type="http://schemas.openxmlformats.org/officeDocument/2006/relationships/tableStyles" Target="tableStyles.xml"/>  <Relationship Id="rId18" Type="http://schemas.openxmlformats.org/officeDocument/2006/relationships/notesMaster" Target="notesMasters/notesMaster1.xml"/></Relationships>
</file>

<file path=ppt/notesMasters/_rels/notesMaster1.xml.rels><?xml version="1.0" encoding="UTF-8"?>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smtClean="0"/>
              <a:t>6/20/18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smtClean="0"/>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custDataLst/>
  </p:cSld>
  <p:clrMapOvr>
    <a:masterClrMapping/>
  </p:clrMapOvr>
</p:sldLayout>
</file>

<file path=ppt/slideMasters/_rels/slideMaster1.xml.rels><?xml version="1.0" encoding="UTF-8" standalone="yes"?><Relationships xmlns="http://schemas.openxmlformats.org/package/2006/relationships"><Relationship Id="rId1" Target="../slideLayouts/slideLayout1.xml" Type="http://schemas.openxmlformats.org/officeDocument/2006/relationships/slideLayout"/><Relationship Id="rId2" Target="../theme/theme1.xml" Type="http://schemas.openxmlformats.org/officeDocument/2006/relationships/theme"/></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arget="../media/image1.png" Type="http://schemas.openxmlformats.org/officeDocument/2006/relationships/image"/><Relationship Id="rId2" Target="../media/image2.svg" Type="http://schemas.openxmlformats.org/officeDocument/2006/relationships/image"/><Relationship Id="rId3" Target="../media/image3.png" Type="http://schemas.openxmlformats.org/officeDocument/2006/relationships/image"/><Relationship Id="rId4" Target="../slideLayouts/slideLayout1.xml" Type="http://schemas.openxmlformats.org/officeDocument/2006/relationships/slideLayout"/><Relationship Id="rId5" Target="../notesSlides/notesSlide1.xml" Type="http://schemas.openxmlformats.org/officeDocument/2006/relationships/notesSlide"/></Relationships>
</file>

<file path=ppt/slides/_rels/slide2.xml.rels><?xml version="1.0" encoding="UTF-8" standalone="yes"?><Relationships xmlns="http://schemas.openxmlformats.org/package/2006/relationships"><Relationship Id="rId1" Target="../media/image4.png" Type="http://schemas.openxmlformats.org/officeDocument/2006/relationships/image"/><Relationship Id="rId2" Target="../slideLayouts/slideLayout1.xml" Type="http://schemas.openxmlformats.org/officeDocument/2006/relationships/slideLayout"/><Relationship Id="rId3" Target="../notesSlides/notesSlide2.xml" Type="http://schemas.openxmlformats.org/officeDocument/2006/relationships/notesSlide"/></Relationships>
</file>

<file path=ppt/slides/_rels/slide3.xml.rels><?xml version="1.0" encoding="UTF-8" standalone="yes"?><Relationships xmlns="http://schemas.openxmlformats.org/package/2006/relationships"><Relationship Id="rId1" Target="../media/image5.png" Type="http://schemas.openxmlformats.org/officeDocument/2006/relationships/image"/><Relationship Id="rId2" Target="../media/image6.sv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slideLayouts/slideLayout1.xml" Type="http://schemas.openxmlformats.org/officeDocument/2006/relationships/slideLayout"/><Relationship Id="rId10" Target="../notesSlides/notesSlide3.xml" Type="http://schemas.openxmlformats.org/officeDocument/2006/relationships/notesSlide"/></Relationships>
</file>

<file path=ppt/slides/_rels/slide4.xml.rels><?xml version="1.0" encoding="UTF-8" standalone="yes"?><Relationships xmlns="http://schemas.openxmlformats.org/package/2006/relationships"><Relationship Id="rId1" Target="../media/image13.png" Type="http://schemas.openxmlformats.org/officeDocument/2006/relationships/image"/><Relationship Id="rId2" Target="../media/image14.sv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 Id="rId5" Target="../media/image17.png" Type="http://schemas.openxmlformats.org/officeDocument/2006/relationships/image"/><Relationship Id="rId6" Target="../media/image18.svg" Type="http://schemas.openxmlformats.org/officeDocument/2006/relationships/image"/><Relationship Id="rId7" Target="../media/image19.png" Type="http://schemas.openxmlformats.org/officeDocument/2006/relationships/image"/><Relationship Id="rId8" Target="../media/image20.svg" Type="http://schemas.openxmlformats.org/officeDocument/2006/relationships/image"/><Relationship Id="rId9" Target="../slideLayouts/slideLayout1.xml" Type="http://schemas.openxmlformats.org/officeDocument/2006/relationships/slideLayout"/><Relationship Id="rId10" Target="../notesSlides/notesSlide4.xml" Type="http://schemas.openxmlformats.org/officeDocument/2006/relationships/notesSlide"/></Relationships>
</file>

<file path=ppt/slides/_rels/slide5.xml.rels><?xml version="1.0" encoding="UTF-8" standalone="yes"?><Relationships xmlns="http://schemas.openxmlformats.org/package/2006/relationships"><Relationship Id="rId1" Target="../media/image21.png" Type="http://schemas.openxmlformats.org/officeDocument/2006/relationships/image"/><Relationship Id="rId2" Target="../media/image22.svg" Type="http://schemas.openxmlformats.org/officeDocument/2006/relationships/image"/><Relationship Id="rId3" Target="../media/image23.png" Type="http://schemas.openxmlformats.org/officeDocument/2006/relationships/image"/><Relationship Id="rId4" Target="../media/image24.svg" Type="http://schemas.openxmlformats.org/officeDocument/2006/relationships/image"/><Relationship Id="rId5" Target="../media/image25.png" Type="http://schemas.openxmlformats.org/officeDocument/2006/relationships/image"/><Relationship Id="rId6" Target="../media/image26.svg" Type="http://schemas.openxmlformats.org/officeDocument/2006/relationships/image"/><Relationship Id="rId7" Target="../media/image27.png" Type="http://schemas.openxmlformats.org/officeDocument/2006/relationships/image"/><Relationship Id="rId8" Target="../media/image28.svg" Type="http://schemas.openxmlformats.org/officeDocument/2006/relationships/image"/><Relationship Id="rId9" Target="../slideLayouts/slideLayout1.xml" Type="http://schemas.openxmlformats.org/officeDocument/2006/relationships/slideLayout"/><Relationship Id="rId10" Target="../notesSlides/notesSlide5.xml" Type="http://schemas.openxmlformats.org/officeDocument/2006/relationships/notesSlide"/></Relationships>
</file>

<file path=ppt/slides/_rels/slide6.xml.rels><?xml version="1.0" encoding="UTF-8" standalone="yes"?><Relationships xmlns="http://schemas.openxmlformats.org/package/2006/relationships"><Relationship Id="rId1" Target="../media/image29.png" Type="http://schemas.openxmlformats.org/officeDocument/2006/relationships/image"/><Relationship Id="rId2" Target="../media/image30.svg" Type="http://schemas.openxmlformats.org/officeDocument/2006/relationships/image"/><Relationship Id="rId3" Target="../media/image31.png" Type="http://schemas.openxmlformats.org/officeDocument/2006/relationships/image"/><Relationship Id="rId4" Target="../media/image32.png" Type="http://schemas.openxmlformats.org/officeDocument/2006/relationships/image"/><Relationship Id="rId5" Target="../slideLayouts/slideLayout1.xml" Type="http://schemas.openxmlformats.org/officeDocument/2006/relationships/slideLayout"/><Relationship Id="rId6" Target="../notesSlides/notesSlide6.xml" Type="http://schemas.openxmlformats.org/officeDocument/2006/relationships/notesSlide"/></Relationships>
</file>

<file path=ppt/slides/_rels/slide7.xml.rels><?xml version="1.0" encoding="UTF-8" standalone="yes"?><Relationships xmlns="http://schemas.openxmlformats.org/package/2006/relationships"><Relationship Id="rId1" Target="../media/image33.png" Type="http://schemas.openxmlformats.org/officeDocument/2006/relationships/image"/><Relationship Id="rId2" Target="../media/image34.svg" Type="http://schemas.openxmlformats.org/officeDocument/2006/relationships/image"/><Relationship Id="rId3" Target="../media/image35.png" Type="http://schemas.openxmlformats.org/officeDocument/2006/relationships/image"/><Relationship Id="rId4" Target="../media/image36.svg" Type="http://schemas.openxmlformats.org/officeDocument/2006/relationships/image"/><Relationship Id="rId5" Target="../media/image37.png" Type="http://schemas.openxmlformats.org/officeDocument/2006/relationships/image"/><Relationship Id="rId6" Target="../media/image38.svg" Type="http://schemas.openxmlformats.org/officeDocument/2006/relationships/image"/><Relationship Id="rId7" Target="../media/image39.png" Type="http://schemas.openxmlformats.org/officeDocument/2006/relationships/image"/><Relationship Id="rId8" Target="../media/image40.svg" Type="http://schemas.openxmlformats.org/officeDocument/2006/relationships/image"/><Relationship Id="rId9" Target="../slideLayouts/slideLayout1.xml" Type="http://schemas.openxmlformats.org/officeDocument/2006/relationships/slideLayout"/><Relationship Id="rId10" Target="../notesSlides/notesSlide7.xml" Type="http://schemas.openxmlformats.org/officeDocument/2006/relationships/notesSlide"/></Relationships>
</file>

<file path=ppt/slides/_rels/slide8.xml.rels><?xml version="1.0" encoding="UTF-8" standalone="yes"?><Relationships xmlns="http://schemas.openxmlformats.org/package/2006/relationships"><Relationship Id="rId1" Target="../media/image41.png" Type="http://schemas.openxmlformats.org/officeDocument/2006/relationships/image"/><Relationship Id="rId2" Target="../media/image42.svg" Type="http://schemas.openxmlformats.org/officeDocument/2006/relationships/image"/><Relationship Id="rId3" Target="../media/image43.png" Type="http://schemas.openxmlformats.org/officeDocument/2006/relationships/image"/><Relationship Id="rId4" Target="../media/image44.svg" Type="http://schemas.openxmlformats.org/officeDocument/2006/relationships/image"/><Relationship Id="rId5" Target="../media/image45.png" Type="http://schemas.openxmlformats.org/officeDocument/2006/relationships/image"/><Relationship Id="rId6" Target="../media/image46.svg" Type="http://schemas.openxmlformats.org/officeDocument/2006/relationships/image"/><Relationship Id="rId7" Target="../media/image47.png" Type="http://schemas.openxmlformats.org/officeDocument/2006/relationships/image"/><Relationship Id="rId8" Target="../media/image48.svg" Type="http://schemas.openxmlformats.org/officeDocument/2006/relationships/image"/><Relationship Id="rId9" Target="../slideLayouts/slideLayout1.xml" Type="http://schemas.openxmlformats.org/officeDocument/2006/relationships/slideLayout"/><Relationship Id="rId10" Target="../notesSlides/notesSlide8.xml" Type="http://schemas.openxmlformats.org/officeDocument/2006/relationships/notesSlide"/></Relationships>
</file>

<file path=ppt/slides/_rels/slide9.xml.rels><?xml version="1.0" encoding="UTF-8" standalone="yes"?><Relationships xmlns="http://schemas.openxmlformats.org/package/2006/relationships"><Relationship Id="rId1" Target="../media/image49.png" Type="http://schemas.openxmlformats.org/officeDocument/2006/relationships/image"/><Relationship Id="rId2" Target="../media/image50.svg" Type="http://schemas.openxmlformats.org/officeDocument/2006/relationships/image"/><Relationship Id="rId3" Target="../media/image51.png" Type="http://schemas.openxmlformats.org/officeDocument/2006/relationships/image"/><Relationship Id="rId4" Target="../media/image52.svg" Type="http://schemas.openxmlformats.org/officeDocument/2006/relationships/image"/><Relationship Id="rId5" Target="../media/image53.png" Type="http://schemas.openxmlformats.org/officeDocument/2006/relationships/image"/><Relationship Id="rId6" Target="../media/image54.svg" Type="http://schemas.openxmlformats.org/officeDocument/2006/relationships/image"/><Relationship Id="rId7" Target="../media/image55.png" Type="http://schemas.openxmlformats.org/officeDocument/2006/relationships/image"/><Relationship Id="rId8" Target="../media/image56.svg" Type="http://schemas.openxmlformats.org/officeDocument/2006/relationships/image"/><Relationship Id="rId9" Target="../slideLayouts/slideLayout1.xml" Type="http://schemas.openxmlformats.org/officeDocument/2006/relationships/slideLayout"/><Relationship Id="rId10" Target="../notesSlides/notesSlide9.xml" Type="http://schemas.openxmlformats.org/officeDocument/2006/relationships/notesSlide"/></Relationships>
</file>

<file path=ppt/slides/_rels/slide10.xml.rels><?xml version="1.0" encoding="UTF-8" standalone="yes"?><Relationships xmlns="http://schemas.openxmlformats.org/package/2006/relationships"><Relationship Id="rId1" Target="../media/image57.png" Type="http://schemas.openxmlformats.org/officeDocument/2006/relationships/image"/><Relationship Id="rId2" Target="../media/image58.svg" Type="http://schemas.openxmlformats.org/officeDocument/2006/relationships/image"/><Relationship Id="rId3" Target="../media/image59.png" Type="http://schemas.openxmlformats.org/officeDocument/2006/relationships/image"/><Relationship Id="rId4" Target="../media/image60.svg" Type="http://schemas.openxmlformats.org/officeDocument/2006/relationships/image"/><Relationship Id="rId5" Target="../media/image61.png" Type="http://schemas.openxmlformats.org/officeDocument/2006/relationships/image"/><Relationship Id="rId6" Target="../media/image62.svg" Type="http://schemas.openxmlformats.org/officeDocument/2006/relationships/image"/><Relationship Id="rId7" Target="../media/image63.png" Type="http://schemas.openxmlformats.org/officeDocument/2006/relationships/image"/><Relationship Id="rId8" Target="../media/image64.svg" Type="http://schemas.openxmlformats.org/officeDocument/2006/relationships/image"/><Relationship Id="rId9" Target="../slideLayouts/slideLayout1.xml" Type="http://schemas.openxmlformats.org/officeDocument/2006/relationships/slideLayout"/><Relationship Id="rId10" Target="../notesSlides/notesSlide10.xml" Type="http://schemas.openxmlformats.org/officeDocument/2006/relationships/notesSlide"/></Relationships>
</file>

<file path=ppt/slides/_rels/slide11.xml.rels><?xml version="1.0" encoding="UTF-8" standalone="yes"?><Relationships xmlns="http://schemas.openxmlformats.org/package/2006/relationships"><Relationship Id="rId1" Target="../media/image65.png" Type="http://schemas.openxmlformats.org/officeDocument/2006/relationships/image"/><Relationship Id="rId2" Target="../media/image66.svg" Type="http://schemas.openxmlformats.org/officeDocument/2006/relationships/image"/><Relationship Id="rId3" Target="../media/image67.png" Type="http://schemas.openxmlformats.org/officeDocument/2006/relationships/image"/><Relationship Id="rId4" Target="../media/image68.svg" Type="http://schemas.openxmlformats.org/officeDocument/2006/relationships/image"/><Relationship Id="rId5" Target="../media/image69.png" Type="http://schemas.openxmlformats.org/officeDocument/2006/relationships/image"/><Relationship Id="rId6" Target="../media/image70.svg" Type="http://schemas.openxmlformats.org/officeDocument/2006/relationships/image"/><Relationship Id="rId7" Target="../media/image71.png" Type="http://schemas.openxmlformats.org/officeDocument/2006/relationships/image"/><Relationship Id="rId8" Target="../media/image72.svg" Type="http://schemas.openxmlformats.org/officeDocument/2006/relationships/image"/><Relationship Id="rId9" Target="../slideLayouts/slideLayout1.xml" Type="http://schemas.openxmlformats.org/officeDocument/2006/relationships/slideLayout"/><Relationship Id="rId10" Target="../notesSlides/notesSlide11.xml" Type="http://schemas.openxmlformats.org/officeDocument/2006/relationships/notesSlide"/></Relationships>
</file>

<file path=ppt/slides/_rels/slide12.xml.rels><?xml version="1.0" encoding="UTF-8" standalone="yes"?><Relationships xmlns="http://schemas.openxmlformats.org/package/2006/relationships"><Relationship Id="rId1" Target="../slideLayouts/slideLayout1.xml" Type="http://schemas.openxmlformats.org/officeDocument/2006/relationships/slideLayout"/><Relationship Id="rId2" Target="../notesSlides/notesSlide12.xml" Type="http://schemas.openxmlformats.org/officeDocument/2006/relationships/notesSlide"/></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ff1eb"/>
        </a:solidFill>
        <a:effectLst/>
      </p:bgPr>
    </p:bg>
    <p:spTree>
      <p:nvGrpSpPr>
        <p:cNvPr id="1" name=""/>
        <p:cNvGrpSpPr/>
        <p:nvPr/>
      </p:nvGrpSpPr>
      <p:grpSpPr>
        <a:xfrm>
          <a:off x="0" y="0"/>
          <a:ext cx="0" cy="0"/>
          <a:chOff x="0" y="0"/>
          <a:chExt cx="0" cy="0"/>
        </a:xfrm>
      </p:grpSpPr>
      <p:pic>
        <p:nvPicPr>
          <p:cNvPr id="2" name="Object 1" descr="">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88952" cy="114271"/>
          </a:xfrm>
          <a:prstGeom prst="rect">
            <a:avLst/>
          </a:prstGeom>
        </p:spPr>
      </p:pic>
      <p:sp>
        <p:nvSpPr>
          <p:cNvPr id="3" name="Object 2"/>
          <p:cNvSpPr/>
          <p:nvPr/>
        </p:nvSpPr>
        <p:spPr>
          <a:xfrm>
            <a:off x="6094476" y="658152"/>
            <a:ext cx="5413986" cy="4335272"/>
          </a:xfrm>
          <a:prstGeom prst="rect">
            <a:avLst/>
          </a:prstGeom>
          <a:noFill/>
        </p:spPr>
        <p:txBody>
          <a:bodyPr wrap="square" rtlCol="0" anchor="ctr" bIns="0" lIns="0" rIns="0" tIns="0"/>
          <a:lstStyle/>
          <a:p>
            <a:pPr algn="l">
              <a:lnSpc>
                <a:spcPts val="6830"/>
              </a:lnSpc>
              <a:buNone/>
            </a:pPr>
            <a:r>
              <a:rPr lang="en-US" sz="6413" spc="64" kern="0" dirty="0" smtClean="0">
                <a:solidFill>
                  <a:srgbClr val="071023"/>
                </a:solidFill>
                <a:latin typeface="Poppins" pitchFamily="34" charset="0"/>
                <a:ea typeface="Poppins" pitchFamily="34" charset="-122"/>
                <a:cs typeface="Poppins" pitchFamily="34" charset="-120"/>
              </a:rPr>
              <a:t>Earthquake Data Analysis for Disaster Response</a:t>
            </a:r>
            <a:endParaRPr lang="en-US" dirty="0"/>
          </a:p>
        </p:txBody>
      </p:sp>
      <p:sp>
        <p:nvSpPr>
          <p:cNvPr id="4" name="Object 3"/>
          <p:cNvSpPr/>
          <p:nvPr/>
        </p:nvSpPr>
        <p:spPr>
          <a:xfrm>
            <a:off x="6094476" y="5141421"/>
            <a:ext cx="6096381" cy="575920"/>
          </a:xfrm>
          <a:prstGeom prst="rect">
            <a:avLst/>
          </a:prstGeom>
          <a:noFill/>
        </p:spPr>
        <p:txBody>
          <a:bodyPr wrap="square" rtlCol="0" anchor="ctr" bIns="0" lIns="0" rIns="0" tIns="0"/>
          <a:lstStyle/>
          <a:p>
            <a:pPr algn="l">
              <a:lnSpc>
                <a:spcPts val="2268"/>
              </a:lnSpc>
              <a:spcBef>
                <a:spcPts val="1143"/>
              </a:spcBef>
              <a:buNone/>
            </a:pPr>
            <a:r>
              <a:rPr lang="en-US" sz="1620" dirty="0" smtClean="0">
                <a:solidFill>
                  <a:srgbClr val="000000">
                    <a:alpha val="80000"/>
                  </a:srgbClr>
                </a:solidFill>
                <a:latin typeface="Space Mono" pitchFamily="34" charset="0"/>
                <a:ea typeface="Space Mono" pitchFamily="34" charset="-122"/>
                <a:cs typeface="Space Mono" pitchFamily="34" charset="-120"/>
              </a:rPr>
              <a:t>Analyzing earthquake data to inform disaster response efforts</a:t>
            </a:r>
            <a:endParaRPr lang="en-US" dirty="0"/>
          </a:p>
        </p:txBody>
      </p:sp>
      <p:sp>
        <p:nvSpPr>
          <p:cNvPr id="5" name="Object 4"/>
          <p:cNvSpPr/>
          <p:nvPr/>
        </p:nvSpPr>
        <p:spPr>
          <a:xfrm>
            <a:off x="6094476" y="5954216"/>
            <a:ext cx="6096381" cy="287960"/>
          </a:xfrm>
          <a:prstGeom prst="rect">
            <a:avLst/>
          </a:prstGeom>
          <a:noFill/>
        </p:spPr>
        <p:txBody>
          <a:bodyPr wrap="square" rtlCol="0" anchor="ctr" bIns="0" lIns="0" rIns="0" tIns="0"/>
          <a:lstStyle/>
          <a:p>
            <a:pPr algn="l">
              <a:lnSpc>
                <a:spcPts val="2268"/>
              </a:lnSpc>
              <a:spcBef>
                <a:spcPts val="1829"/>
              </a:spcBef>
              <a:buNone/>
            </a:pPr>
            <a:r>
              <a:rPr lang="en-US" sz="1620" dirty="0" smtClean="0">
                <a:solidFill>
                  <a:srgbClr val="000000">
                    <a:alpha val="80000"/>
                  </a:srgbClr>
                </a:solidFill>
                <a:latin typeface="Space Mono" pitchFamily="34" charset="0"/>
                <a:ea typeface="Space Mono" pitchFamily="34" charset="-122"/>
                <a:cs typeface="Space Mono" pitchFamily="34" charset="-120"/>
              </a:rPr>
              <a:t>by Valeriya Mintseva and Matthias Gulas</a:t>
            </a:r>
            <a:endParaRPr lang="en-US" dirty="0"/>
          </a:p>
        </p:txBody>
      </p:sp>
      <p:sp>
        <p:nvSpPr>
          <p:cNvPr id="6" name="Object 5"/>
          <p:cNvSpPr/>
          <p:nvPr/>
        </p:nvSpPr>
        <p:spPr>
          <a:xfrm>
            <a:off x="0" y="114271"/>
            <a:ext cx="5713571" cy="6742014"/>
          </a:xfrm>
          <a:prstGeom prst="rect">
            <a:avLst/>
          </a:prstGeom>
          <a:solidFill>
            <a:srgbClr val="000000">
              <a:alpha val="0000"/>
            </a:srgbClr>
          </a:solidFill>
        </p:spPr>
      </p:sp>
      <p:pic>
        <p:nvPicPr>
          <p:cNvPr id="7" name="Object 6" descr="image.png">    </p:cNvPr>
          <p:cNvPicPr>
            <a:picLocks noChangeAspect="1"/>
          </p:cNvPicPr>
          <p:nvPr/>
        </p:nvPicPr>
        <p:blipFill>
          <a:blip r:embed="rId3"/>
          <a:srcRect l="17556" r="17556" t="0" b="0"/>
          <a:stretch/>
        </p:blipFill>
        <p:spPr>
          <a:xfrm>
            <a:off x="0" y="114271"/>
            <a:ext cx="5713571" cy="6742014"/>
          </a:xfrm>
          <a:prstGeom prst="rect">
            <a:avLst/>
          </a:prstGeom>
        </p:spPr>
      </p:pic>
    </p:spTree>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bf7"/>
        </a:solidFill>
        <a:effectLst/>
      </p:bgPr>
    </p:bg>
    <p:spTree>
      <p:nvGrpSpPr>
        <p:cNvPr id="1" name=""/>
        <p:cNvGrpSpPr/>
        <p:nvPr/>
      </p:nvGrpSpPr>
      <p:grpSpPr>
        <a:xfrm>
          <a:off x="0" y="0"/>
          <a:ext cx="0" cy="0"/>
          <a:chOff x="0" y="0"/>
          <a:chExt cx="0" cy="0"/>
        </a:xfrm>
      </p:grpSpPr>
      <p:sp>
        <p:nvSpPr>
          <p:cNvPr id="2" name="Object 1"/>
          <p:cNvSpPr/>
          <p:nvPr/>
        </p:nvSpPr>
        <p:spPr>
          <a:xfrm>
            <a:off x="5289505" y="476131"/>
            <a:ext cx="6423316" cy="5904024"/>
          </a:xfrm>
          <a:prstGeom prst="rect">
            <a:avLst/>
          </a:prstGeom>
          <a:solidFill>
            <a:srgbClr val="eff1eb"/>
          </a:solidFill>
        </p:spPr>
      </p:sp>
      <p:pic>
        <p:nvPicPr>
          <p:cNvPr id="3" name="Object 2" descr="Снимок экрана (67).png">    </p:cNvPr>
          <p:cNvPicPr>
            <a:picLocks noChangeAspect="1"/>
          </p:cNvPicPr>
          <p:nvPr/>
        </p:nvPicPr>
        <p:blipFill>
          <a:blip r:embed="rId1"/>
          <a:srcRect l="5674" r="68129" t="41452" b="15741"/>
          <a:stretch/>
        </p:blipFill>
        <p:spPr>
          <a:xfrm>
            <a:off x="5289505" y="476131"/>
            <a:ext cx="6423316" cy="5904024"/>
          </a:xfrm>
          <a:prstGeom prst="rect">
            <a:avLst/>
          </a:prstGeom>
        </p:spPr>
      </p:pic>
      <p:sp>
        <p:nvSpPr>
          <p:cNvPr id="4" name="Object 3"/>
          <p:cNvSpPr/>
          <p:nvPr/>
        </p:nvSpPr>
        <p:spPr>
          <a:xfrm>
            <a:off x="390034" y="1973860"/>
            <a:ext cx="4509436" cy="963372"/>
          </a:xfrm>
          <a:prstGeom prst="rect">
            <a:avLst/>
          </a:prstGeom>
          <a:noFill/>
        </p:spPr>
        <p:txBody>
          <a:bodyPr wrap="square" rtlCol="0" anchor="ctr" bIns="0" lIns="0" rIns="0" tIns="0"/>
          <a:lstStyle/>
          <a:p>
            <a:pPr algn="ctr">
              <a:lnSpc>
                <a:spcPts val="3794"/>
              </a:lnSpc>
              <a:buNone/>
            </a:pPr>
            <a:r>
              <a:rPr lang="en-US" sz="3563" spc="35" kern="0" dirty="0" smtClean="0">
                <a:solidFill>
                  <a:srgbClr val="071023"/>
                </a:solidFill>
                <a:latin typeface="Poppins" pitchFamily="34" charset="0"/>
                <a:ea typeface="Poppins" pitchFamily="34" charset="-122"/>
                <a:cs typeface="Poppins" pitchFamily="34" charset="-120"/>
              </a:rPr>
              <a:t>Interim Showcase Presentation</a:t>
            </a:r>
            <a:endParaRPr lang="en-US" dirty="0"/>
          </a:p>
        </p:txBody>
      </p:sp>
      <p:sp>
        <p:nvSpPr>
          <p:cNvPr id="5" name="Object 4"/>
          <p:cNvSpPr/>
          <p:nvPr/>
        </p:nvSpPr>
        <p:spPr>
          <a:xfrm>
            <a:off x="366466" y="3068168"/>
            <a:ext cx="4556573" cy="1791443"/>
          </a:xfrm>
          <a:prstGeom prst="rect">
            <a:avLst/>
          </a:prstGeom>
          <a:noFill/>
        </p:spPr>
        <p:txBody>
          <a:bodyPr wrap="square" rtlCol="0" anchor="ctr" bIns="0" lIns="0" rIns="0" tIns="0"/>
          <a:lstStyle/>
          <a:p>
            <a:pPr algn="ctr">
              <a:lnSpc>
                <a:spcPts val="2016"/>
              </a:lnSpc>
              <a:spcBef>
                <a:spcPts val="1011"/>
              </a:spcBef>
              <a:buNone/>
            </a:pPr>
            <a:r>
              <a:rPr lang="en-US" sz="1440" dirty="0" smtClean="0">
                <a:solidFill>
                  <a:srgbClr val="000000">
                    <a:alpha val="80000"/>
                  </a:srgbClr>
                </a:solidFill>
                <a:latin typeface="Space Mono" pitchFamily="34" charset="0"/>
                <a:ea typeface="Space Mono" pitchFamily="34" charset="-122"/>
                <a:cs typeface="Space Mono" pitchFamily="34" charset="-120"/>
              </a:rPr>
              <a:t>This project aims to analyze earthquake data to support disaster response efforts. We are using data analysis and visualization techniques to identify patterns, trends, and insights that can aid in emergency planning and decision-making.</a:t>
            </a:r>
            <a:endParaRPr lang="en-US" dirty="0"/>
          </a:p>
        </p:txBody>
      </p:sp>
    </p:spTree>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bf7"/>
        </a:solidFill>
        <a:effectLst/>
      </p:bgPr>
    </p:bg>
    <p:spTree>
      <p:nvGrpSpPr>
        <p:cNvPr id="1" name=""/>
        <p:cNvGrpSpPr/>
        <p:nvPr/>
      </p:nvGrpSpPr>
      <p:grpSpPr>
        <a:xfrm>
          <a:off x="0" y="0"/>
          <a:ext cx="0" cy="0"/>
          <a:chOff x="0" y="0"/>
          <a:chExt cx="0" cy="0"/>
        </a:xfrm>
      </p:grpSpPr>
      <p:pic>
        <p:nvPicPr>
          <p:cNvPr id="2" name="Object 1" descr="">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88952" cy="76181"/>
          </a:xfrm>
          <a:prstGeom prst="rect">
            <a:avLst/>
          </a:prstGeom>
        </p:spPr>
      </p:pic>
      <p:sp>
        <p:nvSpPr>
          <p:cNvPr id="3" name="Object 2"/>
          <p:cNvSpPr/>
          <p:nvPr/>
        </p:nvSpPr>
        <p:spPr>
          <a:xfrm>
            <a:off x="0" y="402628"/>
            <a:ext cx="12188952" cy="481686"/>
          </a:xfrm>
          <a:prstGeom prst="rect">
            <a:avLst/>
          </a:prstGeom>
          <a:noFill/>
        </p:spPr>
        <p:txBody>
          <a:bodyPr wrap="square" rtlCol="0" anchor="t" bIns="0" lIns="0" rIns="0" tIns="0"/>
          <a:lstStyle/>
          <a:p>
            <a:pPr algn="ctr">
              <a:lnSpc>
                <a:spcPts val="3794"/>
              </a:lnSpc>
              <a:buNone/>
            </a:pPr>
            <a:r>
              <a:rPr lang="en-US" sz="3563" spc="35" kern="0" dirty="0" smtClean="0">
                <a:solidFill>
                  <a:srgbClr val="071023"/>
                </a:solidFill>
                <a:latin typeface="Poppins" pitchFamily="34" charset="0"/>
                <a:ea typeface="Poppins" pitchFamily="34" charset="-122"/>
                <a:cs typeface="Poppins" pitchFamily="34" charset="-120"/>
              </a:rPr>
              <a:t>The Problem We're Solving</a:t>
            </a:r>
            <a:endParaRPr lang="en-US" dirty="0"/>
          </a:p>
        </p:txBody>
      </p:sp>
      <p:sp>
        <p:nvSpPr>
          <p:cNvPr id="4" name="Object 3"/>
          <p:cNvSpPr/>
          <p:nvPr/>
        </p:nvSpPr>
        <p:spPr>
          <a:xfrm>
            <a:off x="1476006" y="1704549"/>
            <a:ext cx="1428393" cy="1428393"/>
          </a:xfrm>
          <a:prstGeom prst="ellipse">
            <a:avLst/>
          </a:prstGeom>
          <a:solidFill>
            <a:srgbClr val="b9d5b1"/>
          </a:solidFill>
        </p:spPr>
      </p:sp>
      <p:pic>
        <p:nvPicPr>
          <p:cNvPr id="5" name="Object 4" descr="">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13571" y="2017011"/>
            <a:ext cx="752287" cy="818945"/>
          </a:xfrm>
          <a:prstGeom prst="rect">
            <a:avLst/>
          </a:prstGeom>
        </p:spPr>
      </p:pic>
      <p:sp>
        <p:nvSpPr>
          <p:cNvPr id="6" name="Object 5"/>
          <p:cNvSpPr/>
          <p:nvPr/>
        </p:nvSpPr>
        <p:spPr>
          <a:xfrm>
            <a:off x="461847" y="3221026"/>
            <a:ext cx="3456711" cy="460657"/>
          </a:xfrm>
          <a:prstGeom prst="rect">
            <a:avLst/>
          </a:prstGeom>
          <a:noFill/>
        </p:spPr>
        <p:txBody>
          <a:bodyPr wrap="square" rtlCol="0" anchor="t" bIns="0" lIns="0" rIns="0" tIns="0"/>
          <a:lstStyle/>
          <a:p>
            <a:pPr algn="ctr">
              <a:lnSpc>
                <a:spcPts val="1814"/>
              </a:lnSpc>
              <a:buNone/>
            </a:pPr>
            <a:r>
              <a:rPr lang="en-US" sz="1440" dirty="0" smtClean="0">
                <a:solidFill>
                  <a:srgbClr val="071023"/>
                </a:solidFill>
                <a:latin typeface="Space Mono" pitchFamily="34" charset="0"/>
                <a:ea typeface="Space Mono" pitchFamily="34" charset="-122"/>
                <a:cs typeface="Space Mono" pitchFamily="34" charset="-120"/>
              </a:rPr>
              <a:t>Earthquakes cause massive destruction and loss of life</a:t>
            </a:r>
            <a:endParaRPr lang="en-US" dirty="0"/>
          </a:p>
        </p:txBody>
      </p:sp>
      <p:sp>
        <p:nvSpPr>
          <p:cNvPr id="7" name="Object 6"/>
          <p:cNvSpPr/>
          <p:nvPr/>
        </p:nvSpPr>
        <p:spPr>
          <a:xfrm>
            <a:off x="461847" y="3768180"/>
            <a:ext cx="3456711" cy="1066335"/>
          </a:xfrm>
          <a:prstGeom prst="rect">
            <a:avLst/>
          </a:prstGeom>
          <a:noFill/>
        </p:spPr>
        <p:txBody>
          <a:bodyPr wrap="square" rtlCol="0" anchor="t" bIns="0" lIns="0" rIns="0" tIns="0"/>
          <a:lstStyle/>
          <a:p>
            <a:pPr algn="ctr">
              <a:lnSpc>
                <a:spcPts val="1680"/>
              </a:lnSpc>
              <a:spcBef>
                <a:spcPts val="668"/>
              </a:spcBef>
              <a:buNone/>
            </a:pPr>
            <a:r>
              <a:rPr lang="en-US" sz="1200" dirty="0" smtClean="0">
                <a:solidFill>
                  <a:srgbClr val="000000">
                    <a:alpha val="80000"/>
                  </a:srgbClr>
                </a:solidFill>
                <a:latin typeface="Space Mono" pitchFamily="34" charset="0"/>
                <a:ea typeface="Space Mono" pitchFamily="34" charset="-122"/>
                <a:cs typeface="Space Mono" pitchFamily="34" charset="-120"/>
              </a:rPr>
              <a:t>Earthquakes can devastate infrastructure, damage buildings, and claim many lives. Prompt and effective emergency response is crucial.</a:t>
            </a:r>
            <a:endParaRPr lang="en-US" dirty="0"/>
          </a:p>
        </p:txBody>
      </p:sp>
      <p:sp>
        <p:nvSpPr>
          <p:cNvPr id="8" name="Object 7"/>
          <p:cNvSpPr/>
          <p:nvPr/>
        </p:nvSpPr>
        <p:spPr>
          <a:xfrm>
            <a:off x="5380280" y="1704549"/>
            <a:ext cx="1428393" cy="1428393"/>
          </a:xfrm>
          <a:prstGeom prst="ellipse">
            <a:avLst/>
          </a:prstGeom>
          <a:solidFill>
            <a:srgbClr val="b9d5b1"/>
          </a:solidFill>
        </p:spPr>
      </p:sp>
      <p:pic>
        <p:nvPicPr>
          <p:cNvPr id="9" name="Object 8" descr="">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734586" y="2075597"/>
            <a:ext cx="723719" cy="676106"/>
          </a:xfrm>
          <a:prstGeom prst="rect">
            <a:avLst/>
          </a:prstGeom>
        </p:spPr>
      </p:pic>
      <p:sp>
        <p:nvSpPr>
          <p:cNvPr id="10" name="Object 9"/>
          <p:cNvSpPr/>
          <p:nvPr/>
        </p:nvSpPr>
        <p:spPr>
          <a:xfrm>
            <a:off x="4298034" y="3221026"/>
            <a:ext cx="3592884" cy="690985"/>
          </a:xfrm>
          <a:prstGeom prst="rect">
            <a:avLst/>
          </a:prstGeom>
          <a:noFill/>
        </p:spPr>
        <p:txBody>
          <a:bodyPr wrap="square" rtlCol="0" anchor="t" bIns="0" lIns="0" rIns="0" tIns="0"/>
          <a:lstStyle/>
          <a:p>
            <a:pPr algn="ctr">
              <a:lnSpc>
                <a:spcPts val="1814"/>
              </a:lnSpc>
              <a:buNone/>
            </a:pPr>
            <a:r>
              <a:rPr lang="en-US" sz="1440" dirty="0" smtClean="0">
                <a:solidFill>
                  <a:srgbClr val="071023"/>
                </a:solidFill>
                <a:latin typeface="Space Mono" pitchFamily="34" charset="0"/>
                <a:ea typeface="Space Mono" pitchFamily="34" charset="-122"/>
                <a:cs typeface="Space Mono" pitchFamily="34" charset="-120"/>
              </a:rPr>
              <a:t>Emergency response is often delayed due to lack of predictive models</a:t>
            </a:r>
            <a:endParaRPr lang="en-US" dirty="0"/>
          </a:p>
        </p:txBody>
      </p:sp>
      <p:sp>
        <p:nvSpPr>
          <p:cNvPr id="11" name="Object 10"/>
          <p:cNvSpPr/>
          <p:nvPr/>
        </p:nvSpPr>
        <p:spPr>
          <a:xfrm>
            <a:off x="4298034" y="3998508"/>
            <a:ext cx="3592884" cy="1066335"/>
          </a:xfrm>
          <a:prstGeom prst="rect">
            <a:avLst/>
          </a:prstGeom>
          <a:noFill/>
        </p:spPr>
        <p:txBody>
          <a:bodyPr wrap="square" rtlCol="0" anchor="t" bIns="0" lIns="0" rIns="0" tIns="0"/>
          <a:lstStyle/>
          <a:p>
            <a:pPr algn="ctr">
              <a:lnSpc>
                <a:spcPts val="1680"/>
              </a:lnSpc>
              <a:spcBef>
                <a:spcPts val="668"/>
              </a:spcBef>
              <a:buNone/>
            </a:pPr>
            <a:r>
              <a:rPr lang="en-US" sz="1200" dirty="0" smtClean="0">
                <a:solidFill>
                  <a:srgbClr val="000000">
                    <a:alpha val="80000"/>
                  </a:srgbClr>
                </a:solidFill>
                <a:latin typeface="Space Mono" pitchFamily="34" charset="0"/>
                <a:ea typeface="Space Mono" pitchFamily="34" charset="-122"/>
                <a:cs typeface="Space Mono" pitchFamily="34" charset="-120"/>
              </a:rPr>
              <a:t>Without accurate predictive models, emergency services struggle to allocate resources and coordinate relief efforts effectively, leading to delays in aid.</a:t>
            </a:r>
            <a:endParaRPr lang="en-US" dirty="0"/>
          </a:p>
        </p:txBody>
      </p:sp>
      <p:sp>
        <p:nvSpPr>
          <p:cNvPr id="12" name="Object 11"/>
          <p:cNvSpPr/>
          <p:nvPr/>
        </p:nvSpPr>
        <p:spPr>
          <a:xfrm>
            <a:off x="9284553" y="1704549"/>
            <a:ext cx="1428393" cy="1428393"/>
          </a:xfrm>
          <a:prstGeom prst="ellipse">
            <a:avLst/>
          </a:prstGeom>
          <a:solidFill>
            <a:srgbClr val="b9d5b1"/>
          </a:solidFill>
        </p:spPr>
      </p:sp>
      <p:pic>
        <p:nvPicPr>
          <p:cNvPr id="13" name="Object 12" descr="">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730930" y="2150918"/>
            <a:ext cx="561835" cy="561835"/>
          </a:xfrm>
          <a:prstGeom prst="rect">
            <a:avLst/>
          </a:prstGeom>
        </p:spPr>
      </p:pic>
      <p:sp>
        <p:nvSpPr>
          <p:cNvPr id="14" name="Object 13"/>
          <p:cNvSpPr/>
          <p:nvPr/>
        </p:nvSpPr>
        <p:spPr>
          <a:xfrm>
            <a:off x="8149933" y="3221026"/>
            <a:ext cx="3697633" cy="460657"/>
          </a:xfrm>
          <a:prstGeom prst="rect">
            <a:avLst/>
          </a:prstGeom>
          <a:noFill/>
        </p:spPr>
        <p:txBody>
          <a:bodyPr wrap="square" rtlCol="0" anchor="t" bIns="0" lIns="0" rIns="0" tIns="0"/>
          <a:lstStyle/>
          <a:p>
            <a:pPr algn="ctr">
              <a:lnSpc>
                <a:spcPts val="1814"/>
              </a:lnSpc>
              <a:buNone/>
            </a:pPr>
            <a:r>
              <a:rPr lang="en-US" sz="1440" dirty="0" smtClean="0">
                <a:solidFill>
                  <a:srgbClr val="071023"/>
                </a:solidFill>
                <a:latin typeface="Space Mono" pitchFamily="34" charset="0"/>
                <a:ea typeface="Space Mono" pitchFamily="34" charset="-122"/>
                <a:cs typeface="Space Mono" pitchFamily="34" charset="-120"/>
              </a:rPr>
              <a:t>Use historical earthquake data to enhance response strategies</a:t>
            </a:r>
            <a:endParaRPr lang="en-US" dirty="0"/>
          </a:p>
        </p:txBody>
      </p:sp>
      <p:sp>
        <p:nvSpPr>
          <p:cNvPr id="15" name="Object 14"/>
          <p:cNvSpPr/>
          <p:nvPr/>
        </p:nvSpPr>
        <p:spPr>
          <a:xfrm>
            <a:off x="8149933" y="3768180"/>
            <a:ext cx="3697633" cy="1066335"/>
          </a:xfrm>
          <a:prstGeom prst="rect">
            <a:avLst/>
          </a:prstGeom>
          <a:noFill/>
        </p:spPr>
        <p:txBody>
          <a:bodyPr wrap="square" rtlCol="0" anchor="t" bIns="0" lIns="0" rIns="0" tIns="0"/>
          <a:lstStyle/>
          <a:p>
            <a:pPr algn="ctr">
              <a:lnSpc>
                <a:spcPts val="1680"/>
              </a:lnSpc>
              <a:spcBef>
                <a:spcPts val="668"/>
              </a:spcBef>
              <a:buNone/>
            </a:pPr>
            <a:r>
              <a:rPr lang="en-US" sz="1200" dirty="0" smtClean="0">
                <a:solidFill>
                  <a:srgbClr val="000000">
                    <a:alpha val="80000"/>
                  </a:srgbClr>
                </a:solidFill>
                <a:latin typeface="Space Mono" pitchFamily="34" charset="0"/>
                <a:ea typeface="Space Mono" pitchFamily="34" charset="-122"/>
                <a:cs typeface="Space Mono" pitchFamily="34" charset="-120"/>
              </a:rPr>
              <a:t>By analyzing historical earthquake data, we can develop better predictive models to anticipate the impacts of future quakes and improve emergency planning and response.</a:t>
            </a:r>
            <a:endParaRPr lang="en-US" dirty="0"/>
          </a:p>
        </p:txBody>
      </p:sp>
      <p:sp>
        <p:nvSpPr>
          <p:cNvPr id="16" name="Object 15"/>
          <p:cNvSpPr/>
          <p:nvPr/>
        </p:nvSpPr>
        <p:spPr>
          <a:xfrm>
            <a:off x="0" y="5637390"/>
            <a:ext cx="12188952" cy="1218895"/>
          </a:xfrm>
          <a:prstGeom prst="rect">
            <a:avLst/>
          </a:prstGeom>
          <a:solidFill>
            <a:srgbClr val="b9d5b1"/>
          </a:solidFill>
        </p:spPr>
      </p:sp>
      <p:sp>
        <p:nvSpPr>
          <p:cNvPr id="17" name="Object 16"/>
          <p:cNvSpPr/>
          <p:nvPr/>
        </p:nvSpPr>
        <p:spPr>
          <a:xfrm>
            <a:off x="233304" y="5949752"/>
            <a:ext cx="11722344" cy="575920"/>
          </a:xfrm>
          <a:prstGeom prst="rect">
            <a:avLst/>
          </a:prstGeom>
          <a:noFill/>
        </p:spPr>
        <p:txBody>
          <a:bodyPr wrap="square" rtlCol="0" anchor="ctr" bIns="0" lIns="0" rIns="0" tIns="0"/>
          <a:lstStyle/>
          <a:p>
            <a:pPr algn="ctr">
              <a:lnSpc>
                <a:spcPts val="2268"/>
              </a:lnSpc>
              <a:buNone/>
            </a:pPr>
            <a:r>
              <a:rPr lang="en-US" sz="1800" dirty="0" smtClean="0">
                <a:solidFill>
                  <a:srgbClr val="071023"/>
                </a:solidFill>
                <a:latin typeface="Space Mono" pitchFamily="34" charset="0"/>
                <a:ea typeface="Space Mono" pitchFamily="34" charset="-122"/>
                <a:cs typeface="Space Mono" pitchFamily="34" charset="-120"/>
              </a:rPr>
              <a:t>Enhancing emergency response strategies through data-driven predictive models can help minimize the devastating effects of earthquakes and save more lives.</a:t>
            </a:r>
            <a:endParaRPr lang="en-US" dirty="0"/>
          </a:p>
        </p:txBody>
      </p:sp>
    </p:spTree>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bf7"/>
        </a:solidFill>
        <a:effectLst/>
      </p:bgPr>
    </p:bg>
    <p:spTree>
      <p:nvGrpSpPr>
        <p:cNvPr id="1" name=""/>
        <p:cNvGrpSpPr/>
        <p:nvPr/>
      </p:nvGrpSpPr>
      <p:grpSpPr>
        <a:xfrm>
          <a:off x="0" y="0"/>
          <a:ext cx="0" cy="0"/>
          <a:chOff x="0" y="0"/>
          <a:chExt cx="0" cy="0"/>
        </a:xfrm>
      </p:grpSpPr>
      <p:pic>
        <p:nvPicPr>
          <p:cNvPr id="2" name="Object 1" descr="">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8475" cy="76181"/>
          </a:xfrm>
          <a:prstGeom prst="rect">
            <a:avLst/>
          </a:prstGeom>
        </p:spPr>
      </p:pic>
      <p:sp>
        <p:nvSpPr>
          <p:cNvPr id="3" name="Object 2"/>
          <p:cNvSpPr/>
          <p:nvPr/>
        </p:nvSpPr>
        <p:spPr>
          <a:xfrm>
            <a:off x="0" y="402628"/>
            <a:ext cx="12188952" cy="481686"/>
          </a:xfrm>
          <a:prstGeom prst="rect">
            <a:avLst/>
          </a:prstGeom>
          <a:noFill/>
        </p:spPr>
        <p:txBody>
          <a:bodyPr wrap="square" rtlCol="0" anchor="t" bIns="0" lIns="0" rIns="0" tIns="0"/>
          <a:lstStyle/>
          <a:p>
            <a:pPr algn="ctr">
              <a:lnSpc>
                <a:spcPts val="3794"/>
              </a:lnSpc>
              <a:buNone/>
            </a:pPr>
            <a:r>
              <a:rPr lang="en-US" sz="3563" spc="35" kern="0" dirty="0" smtClean="0">
                <a:solidFill>
                  <a:srgbClr val="071023"/>
                </a:solidFill>
                <a:latin typeface="Poppins" pitchFamily="34" charset="0"/>
                <a:ea typeface="Poppins" pitchFamily="34" charset="-122"/>
                <a:cs typeface="Poppins" pitchFamily="34" charset="-120"/>
              </a:rPr>
              <a:t>Data Collection &amp; Cleaning</a:t>
            </a:r>
            <a:endParaRPr lang="en-US" dirty="0"/>
          </a:p>
        </p:txBody>
      </p:sp>
      <p:sp>
        <p:nvSpPr>
          <p:cNvPr id="4" name="Object 3"/>
          <p:cNvSpPr/>
          <p:nvPr/>
        </p:nvSpPr>
        <p:spPr>
          <a:xfrm>
            <a:off x="1476006" y="1809298"/>
            <a:ext cx="1428393" cy="1428393"/>
          </a:xfrm>
          <a:prstGeom prst="ellipse">
            <a:avLst/>
          </a:prstGeom>
          <a:solidFill>
            <a:srgbClr val="b9d5b1"/>
          </a:solidFill>
        </p:spPr>
      </p:sp>
      <p:pic>
        <p:nvPicPr>
          <p:cNvPr id="5" name="Object 4" descr="">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13572" y="2121760"/>
            <a:ext cx="752287" cy="818945"/>
          </a:xfrm>
          <a:prstGeom prst="rect">
            <a:avLst/>
          </a:prstGeom>
        </p:spPr>
      </p:pic>
      <p:sp>
        <p:nvSpPr>
          <p:cNvPr id="6" name="Object 5"/>
          <p:cNvSpPr/>
          <p:nvPr/>
        </p:nvSpPr>
        <p:spPr>
          <a:xfrm>
            <a:off x="446135" y="3325775"/>
            <a:ext cx="3488135" cy="460657"/>
          </a:xfrm>
          <a:prstGeom prst="rect">
            <a:avLst/>
          </a:prstGeom>
          <a:noFill/>
        </p:spPr>
        <p:txBody>
          <a:bodyPr wrap="square" rtlCol="0" anchor="t" bIns="0" lIns="0" rIns="0" tIns="0"/>
          <a:lstStyle/>
          <a:p>
            <a:pPr algn="ctr">
              <a:lnSpc>
                <a:spcPts val="1814"/>
              </a:lnSpc>
              <a:buNone/>
            </a:pPr>
            <a:r>
              <a:rPr lang="en-US" sz="1440" dirty="0" smtClean="0">
                <a:solidFill>
                  <a:srgbClr val="071023"/>
                </a:solidFill>
                <a:latin typeface="Space Mono" pitchFamily="34" charset="0"/>
                <a:ea typeface="Space Mono" pitchFamily="34" charset="-122"/>
                <a:cs typeface="Space Mono" pitchFamily="34" charset="-120"/>
              </a:rPr>
              <a:t>Data Source: Earthquake dataset with key parameters</a:t>
            </a:r>
            <a:endParaRPr lang="en-US" dirty="0"/>
          </a:p>
        </p:txBody>
      </p:sp>
      <p:sp>
        <p:nvSpPr>
          <p:cNvPr id="7" name="Object 6"/>
          <p:cNvSpPr/>
          <p:nvPr/>
        </p:nvSpPr>
        <p:spPr>
          <a:xfrm>
            <a:off x="446135" y="3872928"/>
            <a:ext cx="3488135" cy="853068"/>
          </a:xfrm>
          <a:prstGeom prst="rect">
            <a:avLst/>
          </a:prstGeom>
          <a:noFill/>
        </p:spPr>
        <p:txBody>
          <a:bodyPr wrap="square" rtlCol="0" anchor="t" bIns="0" lIns="0" rIns="0" tIns="0"/>
          <a:lstStyle/>
          <a:p>
            <a:pPr algn="ctr">
              <a:lnSpc>
                <a:spcPts val="1680"/>
              </a:lnSpc>
              <a:spcBef>
                <a:spcPts val="668"/>
              </a:spcBef>
              <a:buNone/>
            </a:pPr>
            <a:r>
              <a:rPr lang="en-US" sz="1200" dirty="0" smtClean="0">
                <a:solidFill>
                  <a:srgbClr val="000000">
                    <a:alpha val="80000"/>
                  </a:srgbClr>
                </a:solidFill>
                <a:latin typeface="Space Mono" pitchFamily="34" charset="0"/>
                <a:ea typeface="Space Mono" pitchFamily="34" charset="-122"/>
                <a:cs typeface="Space Mono" pitchFamily="34" charset="-120"/>
              </a:rPr>
              <a:t>The dataset includes information about various earthquakes, such as magnitude, location, depth, and timestamp.</a:t>
            </a:r>
            <a:endParaRPr lang="en-US" dirty="0"/>
          </a:p>
        </p:txBody>
      </p:sp>
      <p:sp>
        <p:nvSpPr>
          <p:cNvPr id="8" name="Object 7"/>
          <p:cNvSpPr/>
          <p:nvPr/>
        </p:nvSpPr>
        <p:spPr>
          <a:xfrm>
            <a:off x="5380280" y="1809298"/>
            <a:ext cx="1428393" cy="1428393"/>
          </a:xfrm>
          <a:prstGeom prst="ellipse">
            <a:avLst/>
          </a:prstGeom>
          <a:solidFill>
            <a:srgbClr val="b9d5b1"/>
          </a:solidFill>
        </p:spPr>
      </p:sp>
      <p:pic>
        <p:nvPicPr>
          <p:cNvPr id="9" name="Object 8" descr="">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734583" y="2314256"/>
            <a:ext cx="723719" cy="428518"/>
          </a:xfrm>
          <a:prstGeom prst="rect">
            <a:avLst/>
          </a:prstGeom>
        </p:spPr>
      </p:pic>
      <p:sp>
        <p:nvSpPr>
          <p:cNvPr id="10" name="Object 9"/>
          <p:cNvSpPr/>
          <p:nvPr/>
        </p:nvSpPr>
        <p:spPr>
          <a:xfrm>
            <a:off x="4397545" y="3325775"/>
            <a:ext cx="3393861" cy="460657"/>
          </a:xfrm>
          <a:prstGeom prst="rect">
            <a:avLst/>
          </a:prstGeom>
          <a:noFill/>
        </p:spPr>
        <p:txBody>
          <a:bodyPr wrap="square" rtlCol="0" anchor="t" bIns="0" lIns="0" rIns="0" tIns="0"/>
          <a:lstStyle/>
          <a:p>
            <a:pPr algn="ctr">
              <a:lnSpc>
                <a:spcPts val="1814"/>
              </a:lnSpc>
              <a:buNone/>
            </a:pPr>
            <a:r>
              <a:rPr lang="en-US" sz="1440" dirty="0" smtClean="0">
                <a:solidFill>
                  <a:srgbClr val="071023"/>
                </a:solidFill>
                <a:latin typeface="Space Mono" pitchFamily="34" charset="0"/>
                <a:ea typeface="Space Mono" pitchFamily="34" charset="-122"/>
                <a:cs typeface="Space Mono" pitchFamily="34" charset="-120"/>
              </a:rPr>
              <a:t>Key Attributes: Magnitude, Location, Depth, Time</a:t>
            </a:r>
            <a:endParaRPr lang="en-US" dirty="0"/>
          </a:p>
        </p:txBody>
      </p:sp>
      <p:sp>
        <p:nvSpPr>
          <p:cNvPr id="11" name="Object 10"/>
          <p:cNvSpPr/>
          <p:nvPr/>
        </p:nvSpPr>
        <p:spPr>
          <a:xfrm>
            <a:off x="4397545" y="3872928"/>
            <a:ext cx="3393861" cy="853068"/>
          </a:xfrm>
          <a:prstGeom prst="rect">
            <a:avLst/>
          </a:prstGeom>
          <a:noFill/>
        </p:spPr>
        <p:txBody>
          <a:bodyPr wrap="square" rtlCol="0" anchor="t" bIns="0" lIns="0" rIns="0" tIns="0"/>
          <a:lstStyle/>
          <a:p>
            <a:pPr algn="ctr">
              <a:lnSpc>
                <a:spcPts val="1680"/>
              </a:lnSpc>
              <a:spcBef>
                <a:spcPts val="668"/>
              </a:spcBef>
              <a:buNone/>
            </a:pPr>
            <a:r>
              <a:rPr lang="en-US" sz="1200" dirty="0" smtClean="0">
                <a:solidFill>
                  <a:srgbClr val="000000">
                    <a:alpha val="80000"/>
                  </a:srgbClr>
                </a:solidFill>
                <a:latin typeface="Space Mono" pitchFamily="34" charset="0"/>
                <a:ea typeface="Space Mono" pitchFamily="34" charset="-122"/>
                <a:cs typeface="Space Mono" pitchFamily="34" charset="-120"/>
              </a:rPr>
              <a:t>These are the crucial parameters that provide insights into the characteristics and impact of the earthquakes.</a:t>
            </a:r>
            <a:endParaRPr lang="en-US" dirty="0"/>
          </a:p>
        </p:txBody>
      </p:sp>
      <p:sp>
        <p:nvSpPr>
          <p:cNvPr id="12" name="Object 11"/>
          <p:cNvSpPr/>
          <p:nvPr/>
        </p:nvSpPr>
        <p:spPr>
          <a:xfrm>
            <a:off x="9284553" y="1809298"/>
            <a:ext cx="1428393" cy="1428393"/>
          </a:xfrm>
          <a:prstGeom prst="ellipse">
            <a:avLst/>
          </a:prstGeom>
          <a:solidFill>
            <a:srgbClr val="b9d5b1"/>
          </a:solidFill>
        </p:spPr>
      </p:sp>
      <p:pic>
        <p:nvPicPr>
          <p:cNvPr id="13" name="Object 12" descr="">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680707" y="2197087"/>
            <a:ext cx="638015" cy="676106"/>
          </a:xfrm>
          <a:prstGeom prst="rect">
            <a:avLst/>
          </a:prstGeom>
        </p:spPr>
      </p:pic>
      <p:sp>
        <p:nvSpPr>
          <p:cNvPr id="14" name="Object 13"/>
          <p:cNvSpPr/>
          <p:nvPr/>
        </p:nvSpPr>
        <p:spPr>
          <a:xfrm>
            <a:off x="8149933" y="3325775"/>
            <a:ext cx="3697633" cy="690985"/>
          </a:xfrm>
          <a:prstGeom prst="rect">
            <a:avLst/>
          </a:prstGeom>
          <a:noFill/>
        </p:spPr>
        <p:txBody>
          <a:bodyPr wrap="square" rtlCol="0" anchor="t" bIns="0" lIns="0" rIns="0" tIns="0"/>
          <a:lstStyle/>
          <a:p>
            <a:pPr algn="ctr">
              <a:lnSpc>
                <a:spcPts val="1814"/>
              </a:lnSpc>
              <a:buNone/>
            </a:pPr>
            <a:r>
              <a:rPr lang="en-US" sz="1440" dirty="0" smtClean="0">
                <a:solidFill>
                  <a:srgbClr val="071023"/>
                </a:solidFill>
                <a:latin typeface="Space Mono" pitchFamily="34" charset="0"/>
                <a:ea typeface="Space Mono" pitchFamily="34" charset="-122"/>
                <a:cs typeface="Space Mono" pitchFamily="34" charset="-120"/>
              </a:rPr>
              <a:t>Cleaning Process: Removed Missing Values and Standardized Data</a:t>
            </a:r>
            <a:endParaRPr lang="en-US" dirty="0"/>
          </a:p>
        </p:txBody>
      </p:sp>
      <p:sp>
        <p:nvSpPr>
          <p:cNvPr id="15" name="Object 14"/>
          <p:cNvSpPr/>
          <p:nvPr/>
        </p:nvSpPr>
        <p:spPr>
          <a:xfrm>
            <a:off x="8149933" y="4103257"/>
            <a:ext cx="3697633" cy="853068"/>
          </a:xfrm>
          <a:prstGeom prst="rect">
            <a:avLst/>
          </a:prstGeom>
          <a:noFill/>
        </p:spPr>
        <p:txBody>
          <a:bodyPr wrap="square" rtlCol="0" anchor="t" bIns="0" lIns="0" rIns="0" tIns="0"/>
          <a:lstStyle/>
          <a:p>
            <a:pPr algn="ctr">
              <a:lnSpc>
                <a:spcPts val="1680"/>
              </a:lnSpc>
              <a:spcBef>
                <a:spcPts val="668"/>
              </a:spcBef>
              <a:buNone/>
            </a:pPr>
            <a:r>
              <a:rPr lang="en-US" sz="1200" dirty="0" smtClean="0">
                <a:solidFill>
                  <a:srgbClr val="000000">
                    <a:alpha val="80000"/>
                  </a:srgbClr>
                </a:solidFill>
                <a:latin typeface="Space Mono" pitchFamily="34" charset="0"/>
                <a:ea typeface="Space Mono" pitchFamily="34" charset="-122"/>
                <a:cs typeface="Space Mono" pitchFamily="34" charset="-120"/>
              </a:rPr>
              <a:t>The data was cleaned by identifying and removing any missing values, and ensuring the consistency of the data format across all attributes.</a:t>
            </a:r>
            <a:endParaRPr lang="en-US" dirty="0"/>
          </a:p>
        </p:txBody>
      </p:sp>
      <p:sp>
        <p:nvSpPr>
          <p:cNvPr id="16" name="Object 15"/>
          <p:cNvSpPr/>
          <p:nvPr/>
        </p:nvSpPr>
        <p:spPr>
          <a:xfrm>
            <a:off x="0" y="5637390"/>
            <a:ext cx="12188952" cy="1218895"/>
          </a:xfrm>
          <a:prstGeom prst="rect">
            <a:avLst/>
          </a:prstGeom>
          <a:solidFill>
            <a:srgbClr val="f66a2e"/>
          </a:solidFill>
        </p:spPr>
      </p:sp>
      <p:sp>
        <p:nvSpPr>
          <p:cNvPr id="17" name="Object 16"/>
          <p:cNvSpPr/>
          <p:nvPr/>
        </p:nvSpPr>
        <p:spPr>
          <a:xfrm>
            <a:off x="2475405" y="5949752"/>
            <a:ext cx="7238143" cy="575920"/>
          </a:xfrm>
          <a:prstGeom prst="rect">
            <a:avLst/>
          </a:prstGeom>
          <a:noFill/>
        </p:spPr>
        <p:txBody>
          <a:bodyPr wrap="square" rtlCol="0" anchor="ctr" bIns="0" lIns="0" rIns="0" tIns="0"/>
          <a:lstStyle/>
          <a:p>
            <a:pPr algn="ctr">
              <a:lnSpc>
                <a:spcPts val="2268"/>
              </a:lnSpc>
              <a:buNone/>
            </a:pPr>
            <a:r>
              <a:rPr lang="en-US" sz="1800" dirty="0" smtClean="0">
                <a:solidFill>
                  <a:srgbClr val="f5f6f2"/>
                </a:solidFill>
                <a:latin typeface="Space Mono" pitchFamily="34" charset="0"/>
                <a:ea typeface="Space Mono" pitchFamily="34" charset="-122"/>
                <a:cs typeface="Space Mono" pitchFamily="34" charset="-120"/>
              </a:rPr>
              <a:t>The cleaned and standardized earthquake dataset is now ready for further analysis and insights.</a:t>
            </a:r>
            <a:endParaRPr lang="en-US" dirty="0"/>
          </a:p>
        </p:txBody>
      </p:sp>
    </p:spTree>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bf7"/>
        </a:solidFill>
        <a:effectLst/>
      </p:bgPr>
    </p:bg>
    <p:spTree>
      <p:nvGrpSpPr>
        <p:cNvPr id="1" name=""/>
        <p:cNvGrpSpPr/>
        <p:nvPr/>
      </p:nvGrpSpPr>
      <p:grpSpPr>
        <a:xfrm>
          <a:off x="0" y="0"/>
          <a:ext cx="0" cy="0"/>
          <a:chOff x="0" y="0"/>
          <a:chExt cx="0" cy="0"/>
        </a:xfrm>
      </p:grpSpPr>
      <p:pic>
        <p:nvPicPr>
          <p:cNvPr id="2" name="Object 1" descr="">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88952" cy="76181"/>
          </a:xfrm>
          <a:prstGeom prst="rect">
            <a:avLst/>
          </a:prstGeom>
        </p:spPr>
      </p:pic>
      <p:sp>
        <p:nvSpPr>
          <p:cNvPr id="3" name="Object 2"/>
          <p:cNvSpPr/>
          <p:nvPr/>
        </p:nvSpPr>
        <p:spPr>
          <a:xfrm>
            <a:off x="0" y="402628"/>
            <a:ext cx="12188952" cy="481686"/>
          </a:xfrm>
          <a:prstGeom prst="rect">
            <a:avLst/>
          </a:prstGeom>
          <a:noFill/>
        </p:spPr>
        <p:txBody>
          <a:bodyPr wrap="square" rtlCol="0" anchor="t" bIns="0" lIns="0" rIns="0" tIns="0"/>
          <a:lstStyle/>
          <a:p>
            <a:pPr algn="ctr">
              <a:lnSpc>
                <a:spcPts val="3794"/>
              </a:lnSpc>
              <a:buNone/>
            </a:pPr>
            <a:r>
              <a:rPr lang="en-US" sz="3563" spc="35" kern="0" dirty="0" smtClean="0">
                <a:solidFill>
                  <a:srgbClr val="071023"/>
                </a:solidFill>
                <a:latin typeface="Poppins" pitchFamily="34" charset="0"/>
                <a:ea typeface="Poppins" pitchFamily="34" charset="-122"/>
                <a:cs typeface="Poppins" pitchFamily="34" charset="-120"/>
              </a:rPr>
              <a:t>Data Analysis – Key Findings</a:t>
            </a:r>
            <a:endParaRPr lang="en-US" dirty="0"/>
          </a:p>
        </p:txBody>
      </p:sp>
      <p:sp>
        <p:nvSpPr>
          <p:cNvPr id="4" name="Object 3"/>
          <p:cNvSpPr/>
          <p:nvPr/>
        </p:nvSpPr>
        <p:spPr>
          <a:xfrm>
            <a:off x="1476006" y="1899762"/>
            <a:ext cx="1428393" cy="1428393"/>
          </a:xfrm>
          <a:prstGeom prst="ellipse">
            <a:avLst/>
          </a:prstGeom>
          <a:solidFill>
            <a:srgbClr val="b9d5b1"/>
          </a:solidFill>
        </p:spPr>
      </p:sp>
      <p:pic>
        <p:nvPicPr>
          <p:cNvPr id="5" name="Object 4" descr="">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13568" y="2212225"/>
            <a:ext cx="752287" cy="818945"/>
          </a:xfrm>
          <a:prstGeom prst="rect">
            <a:avLst/>
          </a:prstGeom>
        </p:spPr>
      </p:pic>
      <p:sp>
        <p:nvSpPr>
          <p:cNvPr id="6" name="Object 5"/>
          <p:cNvSpPr/>
          <p:nvPr/>
        </p:nvSpPr>
        <p:spPr>
          <a:xfrm>
            <a:off x="461847" y="3416239"/>
            <a:ext cx="3456711" cy="230328"/>
          </a:xfrm>
          <a:prstGeom prst="rect">
            <a:avLst/>
          </a:prstGeom>
          <a:noFill/>
        </p:spPr>
        <p:txBody>
          <a:bodyPr wrap="square" rtlCol="0" anchor="t" bIns="0" lIns="0" rIns="0" tIns="0"/>
          <a:lstStyle/>
          <a:p>
            <a:pPr algn="ctr">
              <a:lnSpc>
                <a:spcPts val="1814"/>
              </a:lnSpc>
              <a:buNone/>
            </a:pPr>
            <a:r>
              <a:rPr lang="en-US" sz="1440" dirty="0" smtClean="0">
                <a:solidFill>
                  <a:srgbClr val="071023"/>
                </a:solidFill>
                <a:latin typeface="Space Mono" pitchFamily="34" charset="0"/>
                <a:ea typeface="Space Mono" pitchFamily="34" charset="-122"/>
                <a:cs typeface="Space Mono" pitchFamily="34" charset="-120"/>
              </a:rPr>
              <a:t>Average earthquake magnitude</a:t>
            </a:r>
            <a:endParaRPr lang="en-US" dirty="0"/>
          </a:p>
        </p:txBody>
      </p:sp>
      <p:sp>
        <p:nvSpPr>
          <p:cNvPr id="7" name="Object 6"/>
          <p:cNvSpPr/>
          <p:nvPr/>
        </p:nvSpPr>
        <p:spPr>
          <a:xfrm>
            <a:off x="461847" y="3733065"/>
            <a:ext cx="3456711" cy="426534"/>
          </a:xfrm>
          <a:prstGeom prst="rect">
            <a:avLst/>
          </a:prstGeom>
          <a:noFill/>
        </p:spPr>
        <p:txBody>
          <a:bodyPr wrap="square" rtlCol="0" anchor="t" bIns="0" lIns="0" rIns="0" tIns="0"/>
          <a:lstStyle/>
          <a:p>
            <a:pPr algn="ctr">
              <a:lnSpc>
                <a:spcPts val="1680"/>
              </a:lnSpc>
              <a:spcBef>
                <a:spcPts val="668"/>
              </a:spcBef>
              <a:buNone/>
            </a:pPr>
            <a:r>
              <a:rPr lang="en-US" sz="1200" dirty="0" smtClean="0">
                <a:solidFill>
                  <a:srgbClr val="000000">
                    <a:alpha val="80000"/>
                  </a:srgbClr>
                </a:solidFill>
                <a:latin typeface="Space Mono" pitchFamily="34" charset="0"/>
                <a:ea typeface="Space Mono" pitchFamily="34" charset="-122"/>
                <a:cs typeface="Space Mono" pitchFamily="34" charset="-120"/>
              </a:rPr>
              <a:t>The average earthquake magnitude observed was 5.949472.</a:t>
            </a:r>
            <a:endParaRPr lang="en-US" dirty="0"/>
          </a:p>
        </p:txBody>
      </p:sp>
      <p:sp>
        <p:nvSpPr>
          <p:cNvPr id="8" name="Object 7"/>
          <p:cNvSpPr/>
          <p:nvPr/>
        </p:nvSpPr>
        <p:spPr>
          <a:xfrm>
            <a:off x="5380280" y="1899762"/>
            <a:ext cx="1428393" cy="1428393"/>
          </a:xfrm>
          <a:prstGeom prst="ellipse">
            <a:avLst/>
          </a:prstGeom>
          <a:solidFill>
            <a:srgbClr val="b9d5b1"/>
          </a:solidFill>
        </p:spPr>
      </p:sp>
      <p:pic>
        <p:nvPicPr>
          <p:cNvPr id="9" name="Object 8" descr="">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809917" y="2371240"/>
            <a:ext cx="561835" cy="476131"/>
          </a:xfrm>
          <a:prstGeom prst="rect">
            <a:avLst/>
          </a:prstGeom>
        </p:spPr>
      </p:pic>
      <p:sp>
        <p:nvSpPr>
          <p:cNvPr id="10" name="Object 9"/>
          <p:cNvSpPr/>
          <p:nvPr/>
        </p:nvSpPr>
        <p:spPr>
          <a:xfrm>
            <a:off x="4245660" y="3416239"/>
            <a:ext cx="3697633" cy="230328"/>
          </a:xfrm>
          <a:prstGeom prst="rect">
            <a:avLst/>
          </a:prstGeom>
          <a:noFill/>
        </p:spPr>
        <p:txBody>
          <a:bodyPr wrap="square" rtlCol="0" anchor="t" bIns="0" lIns="0" rIns="0" tIns="0"/>
          <a:lstStyle/>
          <a:p>
            <a:pPr algn="ctr">
              <a:lnSpc>
                <a:spcPts val="1814"/>
              </a:lnSpc>
              <a:buNone/>
            </a:pPr>
            <a:r>
              <a:rPr lang="en-US" sz="1440" dirty="0" smtClean="0">
                <a:solidFill>
                  <a:srgbClr val="071023"/>
                </a:solidFill>
                <a:latin typeface="Space Mono" pitchFamily="34" charset="0"/>
                <a:ea typeface="Space Mono" pitchFamily="34" charset="-122"/>
                <a:cs typeface="Space Mono" pitchFamily="34" charset="-120"/>
              </a:rPr>
              <a:t>Standard deviation analysis</a:t>
            </a:r>
            <a:endParaRPr lang="en-US" dirty="0"/>
          </a:p>
        </p:txBody>
      </p:sp>
      <p:sp>
        <p:nvSpPr>
          <p:cNvPr id="11" name="Object 10"/>
          <p:cNvSpPr/>
          <p:nvPr/>
        </p:nvSpPr>
        <p:spPr>
          <a:xfrm>
            <a:off x="4245660" y="3733065"/>
            <a:ext cx="3697633" cy="853068"/>
          </a:xfrm>
          <a:prstGeom prst="rect">
            <a:avLst/>
          </a:prstGeom>
          <a:noFill/>
        </p:spPr>
        <p:txBody>
          <a:bodyPr wrap="square" rtlCol="0" anchor="t" bIns="0" lIns="0" rIns="0" tIns="0"/>
          <a:lstStyle/>
          <a:p>
            <a:pPr algn="ctr">
              <a:lnSpc>
                <a:spcPts val="1680"/>
              </a:lnSpc>
              <a:spcBef>
                <a:spcPts val="668"/>
              </a:spcBef>
              <a:buNone/>
            </a:pPr>
            <a:r>
              <a:rPr lang="en-US" sz="1200" dirty="0" smtClean="0">
                <a:solidFill>
                  <a:srgbClr val="000000">
                    <a:alpha val="80000"/>
                  </a:srgbClr>
                </a:solidFill>
                <a:latin typeface="Space Mono" pitchFamily="34" charset="0"/>
                <a:ea typeface="Space Mono" pitchFamily="34" charset="-122"/>
                <a:cs typeface="Space Mono" pitchFamily="34" charset="-120"/>
              </a:rPr>
              <a:t>The standard deviation of the earthquake magnitudes was calculated to be 0.259, to analyze the variation in the data.</a:t>
            </a:r>
            <a:endParaRPr lang="en-US" dirty="0"/>
          </a:p>
        </p:txBody>
      </p:sp>
      <p:sp>
        <p:nvSpPr>
          <p:cNvPr id="12" name="Object 11"/>
          <p:cNvSpPr/>
          <p:nvPr/>
        </p:nvSpPr>
        <p:spPr>
          <a:xfrm>
            <a:off x="9284553" y="1899762"/>
            <a:ext cx="1428393" cy="1428393"/>
          </a:xfrm>
          <a:prstGeom prst="ellipse">
            <a:avLst/>
          </a:prstGeom>
          <a:solidFill>
            <a:srgbClr val="b9d5b1"/>
          </a:solidFill>
        </p:spPr>
      </p:sp>
      <p:pic>
        <p:nvPicPr>
          <p:cNvPr id="13" name="Object 12" descr="">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714191" y="2371240"/>
            <a:ext cx="561835" cy="476131"/>
          </a:xfrm>
          <a:prstGeom prst="rect">
            <a:avLst/>
          </a:prstGeom>
        </p:spPr>
      </p:pic>
      <p:sp>
        <p:nvSpPr>
          <p:cNvPr id="14" name="Object 13"/>
          <p:cNvSpPr/>
          <p:nvPr/>
        </p:nvSpPr>
        <p:spPr>
          <a:xfrm>
            <a:off x="8202308" y="3416239"/>
            <a:ext cx="3592884" cy="230328"/>
          </a:xfrm>
          <a:prstGeom prst="rect">
            <a:avLst/>
          </a:prstGeom>
          <a:noFill/>
        </p:spPr>
        <p:txBody>
          <a:bodyPr wrap="square" rtlCol="0" anchor="t" bIns="0" lIns="0" rIns="0" tIns="0"/>
          <a:lstStyle/>
          <a:p>
            <a:pPr algn="ctr">
              <a:lnSpc>
                <a:spcPts val="1814"/>
              </a:lnSpc>
              <a:buNone/>
            </a:pPr>
            <a:r>
              <a:rPr lang="en-US" sz="1440" dirty="0" smtClean="0">
                <a:solidFill>
                  <a:srgbClr val="071023"/>
                </a:solidFill>
                <a:latin typeface="Space Mono" pitchFamily="34" charset="0"/>
                <a:ea typeface="Space Mono" pitchFamily="34" charset="-122"/>
                <a:cs typeface="Space Mono" pitchFamily="34" charset="-120"/>
              </a:rPr>
              <a:t>Predictable magnitude range</a:t>
            </a:r>
            <a:endParaRPr lang="en-US" dirty="0"/>
          </a:p>
        </p:txBody>
      </p:sp>
      <p:sp>
        <p:nvSpPr>
          <p:cNvPr id="15" name="Object 14"/>
          <p:cNvSpPr/>
          <p:nvPr/>
        </p:nvSpPr>
        <p:spPr>
          <a:xfrm>
            <a:off x="8202308" y="3733065"/>
            <a:ext cx="3592884" cy="853068"/>
          </a:xfrm>
          <a:prstGeom prst="rect">
            <a:avLst/>
          </a:prstGeom>
          <a:noFill/>
        </p:spPr>
        <p:txBody>
          <a:bodyPr wrap="square" rtlCol="0" anchor="t" bIns="0" lIns="0" rIns="0" tIns="0"/>
          <a:lstStyle/>
          <a:p>
            <a:pPr algn="ctr">
              <a:lnSpc>
                <a:spcPts val="1680"/>
              </a:lnSpc>
              <a:spcBef>
                <a:spcPts val="668"/>
              </a:spcBef>
              <a:buNone/>
            </a:pPr>
            <a:r>
              <a:rPr lang="en-US" sz="1200" dirty="0" smtClean="0">
                <a:solidFill>
                  <a:srgbClr val="000000">
                    <a:alpha val="80000"/>
                  </a:srgbClr>
                </a:solidFill>
                <a:latin typeface="Space Mono" pitchFamily="34" charset="0"/>
                <a:ea typeface="Space Mono" pitchFamily="34" charset="-122"/>
                <a:cs typeface="Space Mono" pitchFamily="34" charset="-120"/>
              </a:rPr>
              <a:t>Most of the earthquakes fell within a predictable magnitude range 4, indicating a stable and consistent pattern.</a:t>
            </a:r>
            <a:endParaRPr lang="en-US" dirty="0"/>
          </a:p>
        </p:txBody>
      </p:sp>
      <p:sp>
        <p:nvSpPr>
          <p:cNvPr id="16" name="Object 15"/>
          <p:cNvSpPr/>
          <p:nvPr/>
        </p:nvSpPr>
        <p:spPr>
          <a:xfrm>
            <a:off x="0" y="5351712"/>
            <a:ext cx="12188952" cy="1504574"/>
          </a:xfrm>
          <a:prstGeom prst="rect">
            <a:avLst/>
          </a:prstGeom>
          <a:solidFill>
            <a:srgbClr val="143642"/>
          </a:solidFill>
        </p:spPr>
      </p:sp>
      <p:sp>
        <p:nvSpPr>
          <p:cNvPr id="17" name="Object 16"/>
          <p:cNvSpPr/>
          <p:nvPr/>
        </p:nvSpPr>
        <p:spPr>
          <a:xfrm>
            <a:off x="1401729" y="5664073"/>
            <a:ext cx="9385493" cy="863880"/>
          </a:xfrm>
          <a:prstGeom prst="rect">
            <a:avLst/>
          </a:prstGeom>
          <a:noFill/>
        </p:spPr>
        <p:txBody>
          <a:bodyPr wrap="square" rtlCol="0" anchor="ctr" bIns="0" lIns="0" rIns="0" tIns="0"/>
          <a:lstStyle/>
          <a:p>
            <a:pPr algn="ctr">
              <a:lnSpc>
                <a:spcPts val="2268"/>
              </a:lnSpc>
              <a:buNone/>
            </a:pPr>
            <a:r>
              <a:rPr lang="en-US" sz="1800" dirty="0" smtClean="0">
                <a:solidFill>
                  <a:srgbClr val="f5f6f2"/>
                </a:solidFill>
                <a:latin typeface="Space Mono" pitchFamily="34" charset="0"/>
                <a:ea typeface="Space Mono" pitchFamily="34" charset="-122"/>
                <a:cs typeface="Space Mono" pitchFamily="34" charset="-120"/>
              </a:rPr>
              <a:t>The data analysis has revealed key insights about the average earthquake magnitude, the variation in the data, and the predictable nature of the observed earthquake patterns.</a:t>
            </a:r>
            <a:endParaRPr lang="en-US" dirty="0"/>
          </a:p>
        </p:txBody>
      </p:sp>
    </p:spTree>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bf7"/>
        </a:solidFill>
        <a:effectLst/>
      </p:bgPr>
    </p:bg>
    <p:spTree>
      <p:nvGrpSpPr>
        <p:cNvPr id="1" name=""/>
        <p:cNvGrpSpPr/>
        <p:nvPr/>
      </p:nvGrpSpPr>
      <p:grpSpPr>
        <a:xfrm>
          <a:off x="0" y="0"/>
          <a:ext cx="0" cy="0"/>
          <a:chOff x="0" y="0"/>
          <a:chExt cx="0" cy="0"/>
        </a:xfrm>
      </p:grpSpPr>
      <p:pic>
        <p:nvPicPr>
          <p:cNvPr id="2" name="Object 1" descr="">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88952" cy="76181"/>
          </a:xfrm>
          <a:prstGeom prst="rect">
            <a:avLst/>
          </a:prstGeom>
        </p:spPr>
      </p:pic>
      <p:sp>
        <p:nvSpPr>
          <p:cNvPr id="3" name="Object 2"/>
          <p:cNvSpPr/>
          <p:nvPr/>
        </p:nvSpPr>
        <p:spPr>
          <a:xfrm>
            <a:off x="0" y="402628"/>
            <a:ext cx="12188952" cy="481686"/>
          </a:xfrm>
          <a:prstGeom prst="rect">
            <a:avLst/>
          </a:prstGeom>
          <a:noFill/>
        </p:spPr>
        <p:txBody>
          <a:bodyPr wrap="square" rtlCol="0" anchor="t" bIns="0" lIns="0" rIns="0" tIns="0"/>
          <a:lstStyle/>
          <a:p>
            <a:pPr algn="ctr">
              <a:lnSpc>
                <a:spcPts val="3794"/>
              </a:lnSpc>
              <a:buNone/>
            </a:pPr>
            <a:r>
              <a:rPr lang="en-US" sz="3563" spc="35" kern="0" dirty="0" smtClean="0">
                <a:solidFill>
                  <a:srgbClr val="071023"/>
                </a:solidFill>
                <a:latin typeface="Poppins" pitchFamily="34" charset="0"/>
                <a:ea typeface="Poppins" pitchFamily="34" charset="-122"/>
                <a:cs typeface="Poppins" pitchFamily="34" charset="-120"/>
              </a:rPr>
              <a:t>Data Visualization – Histogram &amp; Scatter Plot</a:t>
            </a:r>
            <a:endParaRPr lang="en-US" dirty="0"/>
          </a:p>
        </p:txBody>
      </p:sp>
      <p:sp>
        <p:nvSpPr>
          <p:cNvPr id="4" name="Object 3"/>
          <p:cNvSpPr/>
          <p:nvPr/>
        </p:nvSpPr>
        <p:spPr>
          <a:xfrm>
            <a:off x="476131" y="1561709"/>
            <a:ext cx="5523119" cy="3770957"/>
          </a:xfrm>
          <a:prstGeom prst="rect">
            <a:avLst/>
          </a:prstGeom>
          <a:solidFill>
            <a:srgbClr val="b9d5b1"/>
          </a:solidFill>
        </p:spPr>
      </p:sp>
      <p:pic>
        <p:nvPicPr>
          <p:cNvPr id="5" name="Object 4" descr="Снимок экрана (65).png">    </p:cNvPr>
          <p:cNvPicPr>
            <a:picLocks noChangeAspect="1"/>
          </p:cNvPicPr>
          <p:nvPr/>
        </p:nvPicPr>
        <p:blipFill>
          <a:blip r:embed="rId3"/>
          <a:srcRect l="2292" r="2292" t="-13690" b="-13690"/>
          <a:stretch/>
        </p:blipFill>
        <p:spPr>
          <a:xfrm>
            <a:off x="476131" y="1561709"/>
            <a:ext cx="5523119" cy="3770957"/>
          </a:xfrm>
          <a:prstGeom prst="rect">
            <a:avLst/>
          </a:prstGeom>
        </p:spPr>
      </p:pic>
      <p:sp>
        <p:nvSpPr>
          <p:cNvPr id="6" name="Object 5"/>
          <p:cNvSpPr/>
          <p:nvPr/>
        </p:nvSpPr>
        <p:spPr>
          <a:xfrm>
            <a:off x="199975" y="5468364"/>
            <a:ext cx="6075431" cy="230328"/>
          </a:xfrm>
          <a:prstGeom prst="rect">
            <a:avLst/>
          </a:prstGeom>
          <a:noFill/>
        </p:spPr>
        <p:txBody>
          <a:bodyPr wrap="square" rtlCol="0" anchor="t" bIns="0" lIns="0" rIns="0" tIns="0"/>
          <a:lstStyle/>
          <a:p>
            <a:pPr algn="ctr">
              <a:lnSpc>
                <a:spcPts val="1814"/>
              </a:lnSpc>
              <a:buNone/>
            </a:pPr>
            <a:r>
              <a:rPr lang="en-US" sz="1440" dirty="0" smtClean="0">
                <a:solidFill>
                  <a:srgbClr val="071023"/>
                </a:solidFill>
                <a:latin typeface="Space Mono" pitchFamily="34" charset="0"/>
                <a:ea typeface="Space Mono" pitchFamily="34" charset="-122"/>
                <a:cs typeface="Space Mono" pitchFamily="34" charset="-120"/>
              </a:rPr>
              <a:t>Earthquake Magnitude Distribution</a:t>
            </a:r>
            <a:endParaRPr lang="en-US" dirty="0"/>
          </a:p>
        </p:txBody>
      </p:sp>
      <p:sp>
        <p:nvSpPr>
          <p:cNvPr id="7" name="Object 6"/>
          <p:cNvSpPr/>
          <p:nvPr/>
        </p:nvSpPr>
        <p:spPr>
          <a:xfrm>
            <a:off x="199975" y="5785189"/>
            <a:ext cx="6075431" cy="639801"/>
          </a:xfrm>
          <a:prstGeom prst="rect">
            <a:avLst/>
          </a:prstGeom>
          <a:noFill/>
        </p:spPr>
        <p:txBody>
          <a:bodyPr wrap="square" rtlCol="0" anchor="t" bIns="0" lIns="0" rIns="0" tIns="0"/>
          <a:lstStyle/>
          <a:p>
            <a:pPr algn="ctr">
              <a:lnSpc>
                <a:spcPts val="1680"/>
              </a:lnSpc>
              <a:spcBef>
                <a:spcPts val="668"/>
              </a:spcBef>
              <a:buNone/>
            </a:pPr>
            <a:r>
              <a:rPr lang="en-US" sz="1200" dirty="0" smtClean="0">
                <a:solidFill>
                  <a:srgbClr val="000000">
                    <a:alpha val="80000"/>
                  </a:srgbClr>
                </a:solidFill>
                <a:latin typeface="Space Mono" pitchFamily="34" charset="0"/>
                <a:ea typeface="Space Mono" pitchFamily="34" charset="-122"/>
                <a:cs typeface="Space Mono" pitchFamily="34" charset="-120"/>
              </a:rPr>
              <a:t>A graph depicting the frequency of earthquakes across different magnitude ranges, with the highest concentration occurring between 5.5-9.5 magnitude.</a:t>
            </a:r>
            <a:endParaRPr lang="en-US" dirty="0"/>
          </a:p>
        </p:txBody>
      </p:sp>
      <p:sp>
        <p:nvSpPr>
          <p:cNvPr id="8" name="Object 7"/>
          <p:cNvSpPr/>
          <p:nvPr/>
        </p:nvSpPr>
        <p:spPr>
          <a:xfrm>
            <a:off x="6189702" y="1561709"/>
            <a:ext cx="5523119" cy="3770957"/>
          </a:xfrm>
          <a:prstGeom prst="rect">
            <a:avLst/>
          </a:prstGeom>
          <a:solidFill>
            <a:srgbClr val="b9d5b1"/>
          </a:solidFill>
        </p:spPr>
      </p:sp>
      <p:pic>
        <p:nvPicPr>
          <p:cNvPr id="9" name="Object 8" descr="Снимок экрана (66).png">    </p:cNvPr>
          <p:cNvPicPr>
            <a:picLocks noChangeAspect="1"/>
          </p:cNvPicPr>
          <p:nvPr/>
        </p:nvPicPr>
        <p:blipFill>
          <a:blip r:embed="rId4"/>
          <a:srcRect l="1920" r="5272" t="-13140" b="-13140"/>
          <a:stretch/>
        </p:blipFill>
        <p:spPr>
          <a:xfrm>
            <a:off x="6189702" y="1561709"/>
            <a:ext cx="5523119" cy="3770957"/>
          </a:xfrm>
          <a:prstGeom prst="rect">
            <a:avLst/>
          </a:prstGeom>
        </p:spPr>
      </p:pic>
      <p:sp>
        <p:nvSpPr>
          <p:cNvPr id="10" name="Object 9"/>
          <p:cNvSpPr/>
          <p:nvPr/>
        </p:nvSpPr>
        <p:spPr>
          <a:xfrm>
            <a:off x="5913546" y="5468364"/>
            <a:ext cx="6075431" cy="230328"/>
          </a:xfrm>
          <a:prstGeom prst="rect">
            <a:avLst/>
          </a:prstGeom>
          <a:noFill/>
        </p:spPr>
        <p:txBody>
          <a:bodyPr wrap="square" rtlCol="0" anchor="t" bIns="0" lIns="0" rIns="0" tIns="0"/>
          <a:lstStyle/>
          <a:p>
            <a:pPr algn="ctr">
              <a:lnSpc>
                <a:spcPts val="1814"/>
              </a:lnSpc>
              <a:buNone/>
            </a:pPr>
            <a:r>
              <a:rPr lang="en-US" sz="1440" dirty="0" smtClean="0">
                <a:solidFill>
                  <a:srgbClr val="071023"/>
                </a:solidFill>
                <a:latin typeface="Space Mono" pitchFamily="34" charset="0"/>
                <a:ea typeface="Space Mono" pitchFamily="34" charset="-122"/>
                <a:cs typeface="Space Mono" pitchFamily="34" charset="-120"/>
              </a:rPr>
              <a:t>Scatter Plot of Latitude vs. Magnitude</a:t>
            </a:r>
            <a:endParaRPr lang="en-US" dirty="0"/>
          </a:p>
        </p:txBody>
      </p:sp>
      <p:sp>
        <p:nvSpPr>
          <p:cNvPr id="11" name="Object 10"/>
          <p:cNvSpPr/>
          <p:nvPr/>
        </p:nvSpPr>
        <p:spPr>
          <a:xfrm>
            <a:off x="5913546" y="5785189"/>
            <a:ext cx="6075431" cy="639801"/>
          </a:xfrm>
          <a:prstGeom prst="rect">
            <a:avLst/>
          </a:prstGeom>
          <a:noFill/>
        </p:spPr>
        <p:txBody>
          <a:bodyPr wrap="square" rtlCol="0" anchor="t" bIns="0" lIns="0" rIns="0" tIns="0"/>
          <a:lstStyle/>
          <a:p>
            <a:pPr algn="ctr">
              <a:lnSpc>
                <a:spcPts val="1680"/>
              </a:lnSpc>
              <a:spcBef>
                <a:spcPts val="668"/>
              </a:spcBef>
              <a:buNone/>
            </a:pPr>
            <a:r>
              <a:rPr lang="en-US" sz="1200" dirty="0" smtClean="0">
                <a:solidFill>
                  <a:srgbClr val="000000">
                    <a:alpha val="80000"/>
                  </a:srgbClr>
                </a:solidFill>
                <a:latin typeface="Space Mono" pitchFamily="34" charset="0"/>
                <a:ea typeface="Space Mono" pitchFamily="34" charset="-122"/>
                <a:cs typeface="Space Mono" pitchFamily="34" charset="-120"/>
              </a:rPr>
              <a:t>A scatter plot showing the relationship between the latitude and magnitude of earthquakes, indicating no strong correlation between the two variables.</a:t>
            </a:r>
            <a:endParaRPr lang="en-US" dirty="0"/>
          </a:p>
        </p:txBody>
      </p:sp>
    </p:spTree>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1023"/>
        </a:solidFill>
        <a:effectLst/>
      </p:bgPr>
    </p:bg>
    <p:spTree>
      <p:nvGrpSpPr>
        <p:cNvPr id="1" name=""/>
        <p:cNvGrpSpPr/>
        <p:nvPr/>
      </p:nvGrpSpPr>
      <p:grpSpPr>
        <a:xfrm>
          <a:off x="0" y="0"/>
          <a:ext cx="0" cy="0"/>
          <a:chOff x="0" y="0"/>
          <a:chExt cx="0" cy="0"/>
        </a:xfrm>
      </p:grpSpPr>
      <p:pic>
        <p:nvPicPr>
          <p:cNvPr id="2" name="Object 1" descr="">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88952" cy="76181"/>
          </a:xfrm>
          <a:prstGeom prst="rect">
            <a:avLst/>
          </a:prstGeom>
        </p:spPr>
      </p:pic>
      <p:sp>
        <p:nvSpPr>
          <p:cNvPr id="3" name="Object 2"/>
          <p:cNvSpPr/>
          <p:nvPr/>
        </p:nvSpPr>
        <p:spPr>
          <a:xfrm>
            <a:off x="0" y="402628"/>
            <a:ext cx="12188952" cy="481686"/>
          </a:xfrm>
          <a:prstGeom prst="rect">
            <a:avLst/>
          </a:prstGeom>
          <a:noFill/>
        </p:spPr>
        <p:txBody>
          <a:bodyPr wrap="square" rtlCol="0" anchor="t" bIns="0" lIns="0" rIns="0" tIns="0"/>
          <a:lstStyle/>
          <a:p>
            <a:pPr algn="ctr">
              <a:lnSpc>
                <a:spcPts val="3794"/>
              </a:lnSpc>
              <a:buNone/>
            </a:pPr>
            <a:r>
              <a:rPr lang="en-US" sz="3563" spc="35" kern="0" dirty="0" smtClean="0">
                <a:solidFill>
                  <a:srgbClr val="f5f6f2"/>
                </a:solidFill>
                <a:latin typeface="Poppins" pitchFamily="34" charset="0"/>
                <a:ea typeface="Poppins" pitchFamily="34" charset="-122"/>
                <a:cs typeface="Poppins" pitchFamily="34" charset="-120"/>
              </a:rPr>
              <a:t>Strategy Adjustments Based on Findings</a:t>
            </a:r>
            <a:endParaRPr lang="en-US" dirty="0"/>
          </a:p>
        </p:txBody>
      </p:sp>
      <p:sp>
        <p:nvSpPr>
          <p:cNvPr id="4" name="Object 3"/>
          <p:cNvSpPr/>
          <p:nvPr/>
        </p:nvSpPr>
        <p:spPr>
          <a:xfrm>
            <a:off x="476131" y="2010225"/>
            <a:ext cx="714196" cy="714196"/>
          </a:xfrm>
          <a:prstGeom prst="ellipse">
            <a:avLst/>
          </a:prstGeom>
          <a:solidFill>
            <a:srgbClr val="b9d5b1"/>
          </a:solidFill>
        </p:spPr>
      </p:sp>
      <p:pic>
        <p:nvPicPr>
          <p:cNvPr id="5" name="Object 4" descr="">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6763" y="2212430"/>
            <a:ext cx="295201" cy="314246"/>
          </a:xfrm>
          <a:prstGeom prst="rect">
            <a:avLst/>
          </a:prstGeom>
        </p:spPr>
      </p:pic>
      <p:sp>
        <p:nvSpPr>
          <p:cNvPr id="6" name="Object 5"/>
          <p:cNvSpPr/>
          <p:nvPr/>
        </p:nvSpPr>
        <p:spPr>
          <a:xfrm>
            <a:off x="1380780" y="1955470"/>
            <a:ext cx="2775843" cy="921313"/>
          </a:xfrm>
          <a:prstGeom prst="rect">
            <a:avLst/>
          </a:prstGeom>
          <a:noFill/>
        </p:spPr>
        <p:txBody>
          <a:bodyPr wrap="square" rtlCol="0" anchor="t" bIns="0" lIns="0" rIns="0" tIns="0"/>
          <a:lstStyle/>
          <a:p>
            <a:pPr algn="l">
              <a:lnSpc>
                <a:spcPts val="1814"/>
              </a:lnSpc>
              <a:buNone/>
            </a:pPr>
            <a:r>
              <a:rPr lang="en-US" sz="1440" dirty="0" smtClean="0">
                <a:solidFill>
                  <a:srgbClr val="f5f6f2"/>
                </a:solidFill>
                <a:latin typeface="Space Mono" pitchFamily="34" charset="0"/>
                <a:ea typeface="Space Mono" pitchFamily="34" charset="-122"/>
                <a:cs typeface="Space Mono" pitchFamily="34" charset="-120"/>
              </a:rPr>
              <a:t>Originally planned to focus on region-specific earthquake response</a:t>
            </a:r>
            <a:endParaRPr lang="en-US" dirty="0"/>
          </a:p>
        </p:txBody>
      </p:sp>
      <p:sp>
        <p:nvSpPr>
          <p:cNvPr id="7" name="Object 6"/>
          <p:cNvSpPr/>
          <p:nvPr/>
        </p:nvSpPr>
        <p:spPr>
          <a:xfrm>
            <a:off x="1380780" y="2963280"/>
            <a:ext cx="2775843" cy="1492869"/>
          </a:xfrm>
          <a:prstGeom prst="rect">
            <a:avLst/>
          </a:prstGeom>
          <a:noFill/>
        </p:spPr>
        <p:txBody>
          <a:bodyPr wrap="square" rtlCol="0" anchor="t" bIns="0" lIns="0" rIns="0" tIns="0"/>
          <a:lstStyle/>
          <a:p>
            <a:pPr algn="l">
              <a:lnSpc>
                <a:spcPts val="1680"/>
              </a:lnSpc>
              <a:spcBef>
                <a:spcPts val="668"/>
              </a:spcBef>
              <a:buNone/>
            </a:pPr>
            <a:r>
              <a:rPr lang="en-US" sz="1200" dirty="0" smtClean="0">
                <a:solidFill>
                  <a:srgbClr val="ffffff">
                    <a:alpha val="80000"/>
                  </a:srgbClr>
                </a:solidFill>
                <a:latin typeface="Space Mono" pitchFamily="34" charset="0"/>
                <a:ea typeface="Space Mono" pitchFamily="34" charset="-122"/>
                <a:cs typeface="Space Mono" pitchFamily="34" charset="-120"/>
              </a:rPr>
              <a:t>The initial strategy was to develop response plans tailored to specific regions, based on the assumption that earthquake magnitudes would vary across different areas.</a:t>
            </a:r>
            <a:endParaRPr lang="en-US" dirty="0"/>
          </a:p>
        </p:txBody>
      </p:sp>
      <p:sp>
        <p:nvSpPr>
          <p:cNvPr id="8" name="Object 7"/>
          <p:cNvSpPr/>
          <p:nvPr/>
        </p:nvSpPr>
        <p:spPr>
          <a:xfrm>
            <a:off x="4380405" y="2010225"/>
            <a:ext cx="714196" cy="714196"/>
          </a:xfrm>
          <a:prstGeom prst="ellipse">
            <a:avLst/>
          </a:prstGeom>
          <a:solidFill>
            <a:srgbClr val="b9d5b1"/>
          </a:solidFill>
        </p:spPr>
      </p:sp>
      <p:pic>
        <p:nvPicPr>
          <p:cNvPr id="9" name="Object 8" descr="">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543649" y="2212001"/>
            <a:ext cx="371382" cy="304724"/>
          </a:xfrm>
          <a:prstGeom prst="rect">
            <a:avLst/>
          </a:prstGeom>
        </p:spPr>
      </p:pic>
      <p:sp>
        <p:nvSpPr>
          <p:cNvPr id="10" name="Object 9"/>
          <p:cNvSpPr/>
          <p:nvPr/>
        </p:nvSpPr>
        <p:spPr>
          <a:xfrm>
            <a:off x="5285053" y="1955470"/>
            <a:ext cx="2775843" cy="690985"/>
          </a:xfrm>
          <a:prstGeom prst="rect">
            <a:avLst/>
          </a:prstGeom>
          <a:noFill/>
        </p:spPr>
        <p:txBody>
          <a:bodyPr wrap="square" rtlCol="0" anchor="t" bIns="0" lIns="0" rIns="0" tIns="0"/>
          <a:lstStyle/>
          <a:p>
            <a:pPr algn="l">
              <a:lnSpc>
                <a:spcPts val="1814"/>
              </a:lnSpc>
              <a:buNone/>
            </a:pPr>
            <a:r>
              <a:rPr lang="en-US" sz="1440" dirty="0" smtClean="0">
                <a:solidFill>
                  <a:srgbClr val="f5f6f2"/>
                </a:solidFill>
                <a:latin typeface="Space Mono" pitchFamily="34" charset="0"/>
                <a:ea typeface="Space Mono" pitchFamily="34" charset="-122"/>
                <a:cs typeface="Space Mono" pitchFamily="34" charset="-120"/>
              </a:rPr>
              <a:t>Data showed a relatively uniform magnitude distribution</a:t>
            </a:r>
            <a:endParaRPr lang="en-US" dirty="0"/>
          </a:p>
        </p:txBody>
      </p:sp>
      <p:sp>
        <p:nvSpPr>
          <p:cNvPr id="11" name="Object 10"/>
          <p:cNvSpPr/>
          <p:nvPr/>
        </p:nvSpPr>
        <p:spPr>
          <a:xfrm>
            <a:off x="5285053" y="2732952"/>
            <a:ext cx="2775843" cy="1492869"/>
          </a:xfrm>
          <a:prstGeom prst="rect">
            <a:avLst/>
          </a:prstGeom>
          <a:noFill/>
        </p:spPr>
        <p:txBody>
          <a:bodyPr wrap="square" rtlCol="0" anchor="t" bIns="0" lIns="0" rIns="0" tIns="0"/>
          <a:lstStyle/>
          <a:p>
            <a:pPr algn="l">
              <a:lnSpc>
                <a:spcPts val="1680"/>
              </a:lnSpc>
              <a:spcBef>
                <a:spcPts val="668"/>
              </a:spcBef>
              <a:buNone/>
            </a:pPr>
            <a:r>
              <a:rPr lang="en-US" sz="1200" dirty="0" smtClean="0">
                <a:solidFill>
                  <a:srgbClr val="ffffff">
                    <a:alpha val="80000"/>
                  </a:srgbClr>
                </a:solidFill>
                <a:latin typeface="Space Mono" pitchFamily="34" charset="0"/>
                <a:ea typeface="Space Mono" pitchFamily="34" charset="-122"/>
                <a:cs typeface="Space Mono" pitchFamily="34" charset="-120"/>
              </a:rPr>
              <a:t>After analyzing the data, it was found that the magnitude of earthquakes did not vary significantly across different regions, suggesting a more uniform distribution.</a:t>
            </a:r>
            <a:endParaRPr lang="en-US" dirty="0"/>
          </a:p>
        </p:txBody>
      </p:sp>
      <p:sp>
        <p:nvSpPr>
          <p:cNvPr id="12" name="Object 11"/>
          <p:cNvSpPr/>
          <p:nvPr/>
        </p:nvSpPr>
        <p:spPr>
          <a:xfrm>
            <a:off x="8284678" y="2010225"/>
            <a:ext cx="714196" cy="714196"/>
          </a:xfrm>
          <a:prstGeom prst="ellipse">
            <a:avLst/>
          </a:prstGeom>
          <a:solidFill>
            <a:srgbClr val="b9d5b1"/>
          </a:solidFill>
        </p:spPr>
      </p:sp>
      <p:pic>
        <p:nvPicPr>
          <p:cNvPr id="13" name="Object 12" descr="">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82762" y="2216611"/>
            <a:ext cx="323769" cy="295201"/>
          </a:xfrm>
          <a:prstGeom prst="rect">
            <a:avLst/>
          </a:prstGeom>
        </p:spPr>
      </p:pic>
      <p:sp>
        <p:nvSpPr>
          <p:cNvPr id="14" name="Object 13"/>
          <p:cNvSpPr/>
          <p:nvPr/>
        </p:nvSpPr>
        <p:spPr>
          <a:xfrm>
            <a:off x="9189327" y="1955470"/>
            <a:ext cx="2775843" cy="690985"/>
          </a:xfrm>
          <a:prstGeom prst="rect">
            <a:avLst/>
          </a:prstGeom>
          <a:noFill/>
        </p:spPr>
        <p:txBody>
          <a:bodyPr wrap="square" rtlCol="0" anchor="t" bIns="0" lIns="0" rIns="0" tIns="0"/>
          <a:lstStyle/>
          <a:p>
            <a:pPr algn="l">
              <a:lnSpc>
                <a:spcPts val="1814"/>
              </a:lnSpc>
              <a:buNone/>
            </a:pPr>
            <a:r>
              <a:rPr lang="en-US" sz="1440" dirty="0" smtClean="0">
                <a:solidFill>
                  <a:srgbClr val="f5f6f2"/>
                </a:solidFill>
                <a:latin typeface="Space Mono" pitchFamily="34" charset="0"/>
                <a:ea typeface="Space Mono" pitchFamily="34" charset="-122"/>
                <a:cs typeface="Space Mono" pitchFamily="34" charset="-120"/>
              </a:rPr>
              <a:t>Adjusted strategy: Develop a standardized response plan</a:t>
            </a:r>
            <a:endParaRPr lang="en-US" dirty="0"/>
          </a:p>
        </p:txBody>
      </p:sp>
      <p:sp>
        <p:nvSpPr>
          <p:cNvPr id="15" name="Object 14"/>
          <p:cNvSpPr/>
          <p:nvPr/>
        </p:nvSpPr>
        <p:spPr>
          <a:xfrm>
            <a:off x="9189327" y="2732952"/>
            <a:ext cx="2775843" cy="1706136"/>
          </a:xfrm>
          <a:prstGeom prst="rect">
            <a:avLst/>
          </a:prstGeom>
          <a:noFill/>
        </p:spPr>
        <p:txBody>
          <a:bodyPr wrap="square" rtlCol="0" anchor="t" bIns="0" lIns="0" rIns="0" tIns="0"/>
          <a:lstStyle/>
          <a:p>
            <a:pPr algn="l">
              <a:lnSpc>
                <a:spcPts val="1680"/>
              </a:lnSpc>
              <a:spcBef>
                <a:spcPts val="668"/>
              </a:spcBef>
              <a:buNone/>
            </a:pPr>
            <a:r>
              <a:rPr lang="en-US" sz="1200" dirty="0" smtClean="0">
                <a:solidFill>
                  <a:srgbClr val="ffffff">
                    <a:alpha val="80000"/>
                  </a:srgbClr>
                </a:solidFill>
                <a:latin typeface="Space Mono" pitchFamily="34" charset="0"/>
                <a:ea typeface="Space Mono" pitchFamily="34" charset="-122"/>
                <a:cs typeface="Space Mono" pitchFamily="34" charset="-120"/>
              </a:rPr>
              <a:t>Given the uniform magnitude distribution, the strategy was adjusted to focus on developing a single, standardized response plan that could be applied across all regions, rather than region-specific plans.</a:t>
            </a:r>
            <a:endParaRPr lang="en-US" dirty="0"/>
          </a:p>
        </p:txBody>
      </p:sp>
      <p:sp>
        <p:nvSpPr>
          <p:cNvPr id="16" name="Object 15"/>
          <p:cNvSpPr/>
          <p:nvPr/>
        </p:nvSpPr>
        <p:spPr>
          <a:xfrm>
            <a:off x="0" y="5351712"/>
            <a:ext cx="12188952" cy="1504574"/>
          </a:xfrm>
          <a:prstGeom prst="rect">
            <a:avLst/>
          </a:prstGeom>
          <a:solidFill>
            <a:srgbClr val="b9d5b1"/>
          </a:solidFill>
        </p:spPr>
      </p:sp>
      <p:sp>
        <p:nvSpPr>
          <p:cNvPr id="17" name="Object 16"/>
          <p:cNvSpPr/>
          <p:nvPr/>
        </p:nvSpPr>
        <p:spPr>
          <a:xfrm>
            <a:off x="1166045" y="5664073"/>
            <a:ext cx="9856863" cy="863880"/>
          </a:xfrm>
          <a:prstGeom prst="rect">
            <a:avLst/>
          </a:prstGeom>
          <a:noFill/>
        </p:spPr>
        <p:txBody>
          <a:bodyPr wrap="square" rtlCol="0" anchor="ctr" bIns="0" lIns="0" rIns="0" tIns="0"/>
          <a:lstStyle/>
          <a:p>
            <a:pPr algn="ctr">
              <a:lnSpc>
                <a:spcPts val="2268"/>
              </a:lnSpc>
              <a:buNone/>
            </a:pPr>
            <a:r>
              <a:rPr lang="en-US" sz="1800" dirty="0" smtClean="0">
                <a:solidFill>
                  <a:srgbClr val="071023"/>
                </a:solidFill>
                <a:latin typeface="Space Mono" pitchFamily="34" charset="0"/>
                <a:ea typeface="Space Mono" pitchFamily="34" charset="-122"/>
                <a:cs typeface="Space Mono" pitchFamily="34" charset="-120"/>
              </a:rPr>
              <a:t>By adjusting the strategy based on the findings, the organization was able to streamline its earthquake response efforts and ensure a more efficient and effective approach.</a:t>
            </a:r>
            <a:endParaRPr lang="en-US" dirty="0"/>
          </a:p>
        </p:txBody>
      </p:sp>
    </p:spTree>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bf7"/>
        </a:solidFill>
        <a:effectLst/>
      </p:bgPr>
    </p:bg>
    <p:spTree>
      <p:nvGrpSpPr>
        <p:cNvPr id="1" name=""/>
        <p:cNvGrpSpPr/>
        <p:nvPr/>
      </p:nvGrpSpPr>
      <p:grpSpPr>
        <a:xfrm>
          <a:off x="0" y="0"/>
          <a:ext cx="0" cy="0"/>
          <a:chOff x="0" y="0"/>
          <a:chExt cx="0" cy="0"/>
        </a:xfrm>
      </p:grpSpPr>
      <p:pic>
        <p:nvPicPr>
          <p:cNvPr id="2" name="Object 1" descr="">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88952" cy="76181"/>
          </a:xfrm>
          <a:prstGeom prst="rect">
            <a:avLst/>
          </a:prstGeom>
        </p:spPr>
      </p:pic>
      <p:sp>
        <p:nvSpPr>
          <p:cNvPr id="3" name="Object 2"/>
          <p:cNvSpPr/>
          <p:nvPr/>
        </p:nvSpPr>
        <p:spPr>
          <a:xfrm>
            <a:off x="0" y="402628"/>
            <a:ext cx="12188952" cy="481686"/>
          </a:xfrm>
          <a:prstGeom prst="rect">
            <a:avLst/>
          </a:prstGeom>
          <a:noFill/>
        </p:spPr>
        <p:txBody>
          <a:bodyPr wrap="square" rtlCol="0" anchor="t" bIns="0" lIns="0" rIns="0" tIns="0"/>
          <a:lstStyle/>
          <a:p>
            <a:pPr algn="ctr">
              <a:lnSpc>
                <a:spcPts val="3794"/>
              </a:lnSpc>
              <a:buNone/>
            </a:pPr>
            <a:r>
              <a:rPr lang="en-US" sz="3563" spc="35" kern="0" dirty="0" smtClean="0">
                <a:solidFill>
                  <a:srgbClr val="071023"/>
                </a:solidFill>
                <a:latin typeface="Poppins" pitchFamily="34" charset="0"/>
                <a:ea typeface="Poppins" pitchFamily="34" charset="-122"/>
                <a:cs typeface="Poppins" pitchFamily="34" charset="-120"/>
              </a:rPr>
              <a:t>Implications for Disaster Response</a:t>
            </a:r>
            <a:endParaRPr lang="en-US" dirty="0"/>
          </a:p>
        </p:txBody>
      </p:sp>
      <p:sp>
        <p:nvSpPr>
          <p:cNvPr id="4" name="Object 3"/>
          <p:cNvSpPr/>
          <p:nvPr/>
        </p:nvSpPr>
        <p:spPr>
          <a:xfrm>
            <a:off x="1476006" y="1675981"/>
            <a:ext cx="1428393" cy="1428393"/>
          </a:xfrm>
          <a:prstGeom prst="ellipse">
            <a:avLst/>
          </a:prstGeom>
          <a:solidFill>
            <a:srgbClr val="b9d5b1"/>
          </a:solidFill>
        </p:spPr>
      </p:sp>
      <p:pic>
        <p:nvPicPr>
          <p:cNvPr id="5" name="Object 4" descr="">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72160" y="2113988"/>
            <a:ext cx="647538" cy="552312"/>
          </a:xfrm>
          <a:prstGeom prst="rect">
            <a:avLst/>
          </a:prstGeom>
        </p:spPr>
      </p:pic>
      <p:sp>
        <p:nvSpPr>
          <p:cNvPr id="6" name="Object 5"/>
          <p:cNvSpPr/>
          <p:nvPr/>
        </p:nvSpPr>
        <p:spPr>
          <a:xfrm>
            <a:off x="341386" y="3192458"/>
            <a:ext cx="3697633" cy="230328"/>
          </a:xfrm>
          <a:prstGeom prst="rect">
            <a:avLst/>
          </a:prstGeom>
          <a:noFill/>
        </p:spPr>
        <p:txBody>
          <a:bodyPr wrap="square" rtlCol="0" anchor="t" bIns="0" lIns="0" rIns="0" tIns="0"/>
          <a:lstStyle/>
          <a:p>
            <a:pPr algn="ctr">
              <a:lnSpc>
                <a:spcPts val="1814"/>
              </a:lnSpc>
              <a:buNone/>
            </a:pPr>
            <a:r>
              <a:rPr lang="en-US" sz="1440" dirty="0" smtClean="0">
                <a:solidFill>
                  <a:srgbClr val="071023"/>
                </a:solidFill>
                <a:latin typeface="Space Mono" pitchFamily="34" charset="0"/>
                <a:ea typeface="Space Mono" pitchFamily="34" charset="-122"/>
                <a:cs typeface="Space Mono" pitchFamily="34" charset="-120"/>
              </a:rPr>
              <a:t>General Preparedness</a:t>
            </a:r>
            <a:endParaRPr lang="en-US" dirty="0"/>
          </a:p>
        </p:txBody>
      </p:sp>
      <p:sp>
        <p:nvSpPr>
          <p:cNvPr id="7" name="Object 6"/>
          <p:cNvSpPr/>
          <p:nvPr/>
        </p:nvSpPr>
        <p:spPr>
          <a:xfrm>
            <a:off x="341386" y="3509283"/>
            <a:ext cx="3697633" cy="1066335"/>
          </a:xfrm>
          <a:prstGeom prst="rect">
            <a:avLst/>
          </a:prstGeom>
          <a:noFill/>
        </p:spPr>
        <p:txBody>
          <a:bodyPr wrap="square" rtlCol="0" anchor="t" bIns="0" lIns="0" rIns="0" tIns="0"/>
          <a:lstStyle/>
          <a:p>
            <a:pPr algn="ctr">
              <a:lnSpc>
                <a:spcPts val="1680"/>
              </a:lnSpc>
              <a:spcBef>
                <a:spcPts val="668"/>
              </a:spcBef>
              <a:buNone/>
            </a:pPr>
            <a:r>
              <a:rPr lang="en-US" sz="1200" dirty="0" smtClean="0">
                <a:solidFill>
                  <a:srgbClr val="000000">
                    <a:alpha val="80000"/>
                  </a:srgbClr>
                </a:solidFill>
                <a:latin typeface="Space Mono" pitchFamily="34" charset="0"/>
                <a:ea typeface="Space Mono" pitchFamily="34" charset="-122"/>
                <a:cs typeface="Space Mono" pitchFamily="34" charset="-120"/>
              </a:rPr>
              <a:t>Emergency response teams should adopt a comprehensive preparedness approach, ensuring they are equipped and trained to handle a variety of disaster scenarios.</a:t>
            </a:r>
            <a:endParaRPr lang="en-US" dirty="0"/>
          </a:p>
        </p:txBody>
      </p:sp>
      <p:sp>
        <p:nvSpPr>
          <p:cNvPr id="8" name="Object 7"/>
          <p:cNvSpPr/>
          <p:nvPr/>
        </p:nvSpPr>
        <p:spPr>
          <a:xfrm>
            <a:off x="5380280" y="1675981"/>
            <a:ext cx="1428393" cy="1428393"/>
          </a:xfrm>
          <a:prstGeom prst="ellipse">
            <a:avLst/>
          </a:prstGeom>
          <a:solidFill>
            <a:srgbClr val="b9d5b1"/>
          </a:solidFill>
        </p:spPr>
      </p:sp>
      <p:pic>
        <p:nvPicPr>
          <p:cNvPr id="9" name="Object 8" descr="">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726221" y="2072135"/>
            <a:ext cx="733242" cy="638015"/>
          </a:xfrm>
          <a:prstGeom prst="rect">
            <a:avLst/>
          </a:prstGeom>
        </p:spPr>
      </p:pic>
      <p:sp>
        <p:nvSpPr>
          <p:cNvPr id="10" name="Object 9"/>
          <p:cNvSpPr/>
          <p:nvPr/>
        </p:nvSpPr>
        <p:spPr>
          <a:xfrm>
            <a:off x="4298034" y="3192458"/>
            <a:ext cx="3592884" cy="230328"/>
          </a:xfrm>
          <a:prstGeom prst="rect">
            <a:avLst/>
          </a:prstGeom>
          <a:noFill/>
        </p:spPr>
        <p:txBody>
          <a:bodyPr wrap="square" rtlCol="0" anchor="t" bIns="0" lIns="0" rIns="0" tIns="0"/>
          <a:lstStyle/>
          <a:p>
            <a:pPr algn="ctr">
              <a:lnSpc>
                <a:spcPts val="1814"/>
              </a:lnSpc>
              <a:buNone/>
            </a:pPr>
            <a:r>
              <a:rPr lang="en-US" sz="1440" dirty="0" smtClean="0">
                <a:solidFill>
                  <a:srgbClr val="071023"/>
                </a:solidFill>
                <a:latin typeface="Space Mono" pitchFamily="34" charset="0"/>
                <a:ea typeface="Space Mono" pitchFamily="34" charset="-122"/>
                <a:cs typeface="Space Mono" pitchFamily="34" charset="-120"/>
              </a:rPr>
              <a:t>Pre-positioning of Supplies</a:t>
            </a:r>
            <a:endParaRPr lang="en-US" dirty="0"/>
          </a:p>
        </p:txBody>
      </p:sp>
      <p:sp>
        <p:nvSpPr>
          <p:cNvPr id="11" name="Object 10"/>
          <p:cNvSpPr/>
          <p:nvPr/>
        </p:nvSpPr>
        <p:spPr>
          <a:xfrm>
            <a:off x="4298034" y="3509283"/>
            <a:ext cx="3592884" cy="1066335"/>
          </a:xfrm>
          <a:prstGeom prst="rect">
            <a:avLst/>
          </a:prstGeom>
          <a:noFill/>
        </p:spPr>
        <p:txBody>
          <a:bodyPr wrap="square" rtlCol="0" anchor="t" bIns="0" lIns="0" rIns="0" tIns="0"/>
          <a:lstStyle/>
          <a:p>
            <a:pPr algn="ctr">
              <a:lnSpc>
                <a:spcPts val="1680"/>
              </a:lnSpc>
              <a:spcBef>
                <a:spcPts val="668"/>
              </a:spcBef>
              <a:buNone/>
            </a:pPr>
            <a:r>
              <a:rPr lang="en-US" sz="1200" dirty="0" smtClean="0">
                <a:solidFill>
                  <a:srgbClr val="000000">
                    <a:alpha val="80000"/>
                  </a:srgbClr>
                </a:solidFill>
                <a:latin typeface="Space Mono" pitchFamily="34" charset="0"/>
                <a:ea typeface="Space Mono" pitchFamily="34" charset="-122"/>
                <a:cs typeface="Space Mono" pitchFamily="34" charset="-120"/>
              </a:rPr>
              <a:t>Critical emergency supplies should be pre-positioned in high-risk zones, allowing for faster and more efficient deployment during disaster events.</a:t>
            </a:r>
            <a:endParaRPr lang="en-US" dirty="0"/>
          </a:p>
        </p:txBody>
      </p:sp>
      <p:sp>
        <p:nvSpPr>
          <p:cNvPr id="12" name="Object 11"/>
          <p:cNvSpPr/>
          <p:nvPr/>
        </p:nvSpPr>
        <p:spPr>
          <a:xfrm>
            <a:off x="9284553" y="1675981"/>
            <a:ext cx="1428393" cy="1428393"/>
          </a:xfrm>
          <a:prstGeom prst="ellipse">
            <a:avLst/>
          </a:prstGeom>
          <a:solidFill>
            <a:srgbClr val="b9d5b1"/>
          </a:solidFill>
        </p:spPr>
      </p:sp>
      <p:pic>
        <p:nvPicPr>
          <p:cNvPr id="13" name="Object 12" descr="">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781141" y="2072136"/>
            <a:ext cx="428518" cy="657061"/>
          </a:xfrm>
          <a:prstGeom prst="rect">
            <a:avLst/>
          </a:prstGeom>
        </p:spPr>
      </p:pic>
      <p:sp>
        <p:nvSpPr>
          <p:cNvPr id="14" name="Object 13"/>
          <p:cNvSpPr/>
          <p:nvPr/>
        </p:nvSpPr>
        <p:spPr>
          <a:xfrm>
            <a:off x="8149933" y="3192458"/>
            <a:ext cx="3697633" cy="460657"/>
          </a:xfrm>
          <a:prstGeom prst="rect">
            <a:avLst/>
          </a:prstGeom>
          <a:noFill/>
        </p:spPr>
        <p:txBody>
          <a:bodyPr wrap="square" rtlCol="0" anchor="t" bIns="0" lIns="0" rIns="0" tIns="0"/>
          <a:lstStyle/>
          <a:p>
            <a:pPr algn="ctr">
              <a:lnSpc>
                <a:spcPts val="1814"/>
              </a:lnSpc>
              <a:buNone/>
            </a:pPr>
            <a:r>
              <a:rPr lang="en-US" sz="1440" dirty="0" smtClean="0">
                <a:solidFill>
                  <a:srgbClr val="071023"/>
                </a:solidFill>
                <a:latin typeface="Space Mono" pitchFamily="34" charset="0"/>
                <a:ea typeface="Space Mono" pitchFamily="34" charset="-122"/>
                <a:cs typeface="Space Mono" pitchFamily="34" charset="-120"/>
              </a:rPr>
              <a:t>Stronger Communication Networks</a:t>
            </a:r>
            <a:endParaRPr lang="en-US" dirty="0"/>
          </a:p>
        </p:txBody>
      </p:sp>
      <p:sp>
        <p:nvSpPr>
          <p:cNvPr id="15" name="Object 14"/>
          <p:cNvSpPr/>
          <p:nvPr/>
        </p:nvSpPr>
        <p:spPr>
          <a:xfrm>
            <a:off x="8149933" y="3739612"/>
            <a:ext cx="3697633" cy="1066335"/>
          </a:xfrm>
          <a:prstGeom prst="rect">
            <a:avLst/>
          </a:prstGeom>
          <a:noFill/>
        </p:spPr>
        <p:txBody>
          <a:bodyPr wrap="square" rtlCol="0" anchor="t" bIns="0" lIns="0" rIns="0" tIns="0"/>
          <a:lstStyle/>
          <a:p>
            <a:pPr algn="ctr">
              <a:lnSpc>
                <a:spcPts val="1680"/>
              </a:lnSpc>
              <a:spcBef>
                <a:spcPts val="668"/>
              </a:spcBef>
              <a:buNone/>
            </a:pPr>
            <a:r>
              <a:rPr lang="en-US" sz="1200" dirty="0" smtClean="0">
                <a:solidFill>
                  <a:srgbClr val="000000">
                    <a:alpha val="80000"/>
                  </a:srgbClr>
                </a:solidFill>
                <a:latin typeface="Space Mono" pitchFamily="34" charset="0"/>
                <a:ea typeface="Space Mono" pitchFamily="34" charset="-122"/>
                <a:cs typeface="Space Mono" pitchFamily="34" charset="-120"/>
              </a:rPr>
              <a:t>Investing in robust and redundant communication networks can facilitate faster response times and improved coordination among emergency services during disasters.</a:t>
            </a:r>
            <a:endParaRPr lang="en-US" dirty="0"/>
          </a:p>
        </p:txBody>
      </p:sp>
      <p:sp>
        <p:nvSpPr>
          <p:cNvPr id="16" name="Object 15"/>
          <p:cNvSpPr/>
          <p:nvPr/>
        </p:nvSpPr>
        <p:spPr>
          <a:xfrm>
            <a:off x="0" y="5351712"/>
            <a:ext cx="12188952" cy="1504574"/>
          </a:xfrm>
          <a:prstGeom prst="rect">
            <a:avLst/>
          </a:prstGeom>
          <a:solidFill>
            <a:srgbClr val="143642"/>
          </a:solidFill>
        </p:spPr>
      </p:sp>
      <p:sp>
        <p:nvSpPr>
          <p:cNvPr id="17" name="Object 16"/>
          <p:cNvSpPr/>
          <p:nvPr/>
        </p:nvSpPr>
        <p:spPr>
          <a:xfrm>
            <a:off x="580880" y="5664073"/>
            <a:ext cx="11027193" cy="863880"/>
          </a:xfrm>
          <a:prstGeom prst="rect">
            <a:avLst/>
          </a:prstGeom>
          <a:noFill/>
        </p:spPr>
        <p:txBody>
          <a:bodyPr wrap="square" rtlCol="0" anchor="ctr" bIns="0" lIns="0" rIns="0" tIns="0"/>
          <a:lstStyle/>
          <a:p>
            <a:pPr algn="ctr">
              <a:lnSpc>
                <a:spcPts val="2268"/>
              </a:lnSpc>
              <a:buNone/>
            </a:pPr>
            <a:r>
              <a:rPr lang="en-US" sz="1800" dirty="0" smtClean="0">
                <a:solidFill>
                  <a:srgbClr val="f5f6f2"/>
                </a:solidFill>
                <a:latin typeface="Space Mono" pitchFamily="34" charset="0"/>
                <a:ea typeface="Space Mono" pitchFamily="34" charset="-122"/>
                <a:cs typeface="Space Mono" pitchFamily="34" charset="-120"/>
              </a:rPr>
              <a:t>By adopting these strategies, emergency response teams can enhance their overall preparedness, improve resource allocation, and strengthen their ability to effectively respond to and mitigate the impact of disasters.</a:t>
            </a:r>
            <a:endParaRPr lang="en-US" dirty="0"/>
          </a:p>
        </p:txBody>
      </p:sp>
    </p:spTree>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bf7"/>
        </a:solidFill>
        <a:effectLst/>
      </p:bgPr>
    </p:bg>
    <p:spTree>
      <p:nvGrpSpPr>
        <p:cNvPr id="1" name=""/>
        <p:cNvGrpSpPr/>
        <p:nvPr/>
      </p:nvGrpSpPr>
      <p:grpSpPr>
        <a:xfrm>
          <a:off x="0" y="0"/>
          <a:ext cx="0" cy="0"/>
          <a:chOff x="0" y="0"/>
          <a:chExt cx="0" cy="0"/>
        </a:xfrm>
      </p:grpSpPr>
      <p:pic>
        <p:nvPicPr>
          <p:cNvPr id="2" name="Object 1" descr="">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88952" cy="76181"/>
          </a:xfrm>
          <a:prstGeom prst="rect">
            <a:avLst/>
          </a:prstGeom>
        </p:spPr>
      </p:pic>
      <p:sp>
        <p:nvSpPr>
          <p:cNvPr id="3" name="Object 2"/>
          <p:cNvSpPr/>
          <p:nvPr/>
        </p:nvSpPr>
        <p:spPr>
          <a:xfrm>
            <a:off x="0" y="402628"/>
            <a:ext cx="12188952" cy="481686"/>
          </a:xfrm>
          <a:prstGeom prst="rect">
            <a:avLst/>
          </a:prstGeom>
          <a:noFill/>
        </p:spPr>
        <p:txBody>
          <a:bodyPr wrap="square" rtlCol="0" anchor="t" bIns="0" lIns="0" rIns="0" tIns="0"/>
          <a:lstStyle/>
          <a:p>
            <a:pPr algn="ctr">
              <a:lnSpc>
                <a:spcPts val="3794"/>
              </a:lnSpc>
              <a:buNone/>
            </a:pPr>
            <a:r>
              <a:rPr lang="en-US" sz="3563" spc="35" kern="0" dirty="0" smtClean="0">
                <a:solidFill>
                  <a:srgbClr val="071023"/>
                </a:solidFill>
                <a:latin typeface="Poppins" pitchFamily="34" charset="0"/>
                <a:ea typeface="Poppins" pitchFamily="34" charset="-122"/>
                <a:cs typeface="Poppins" pitchFamily="34" charset="-120"/>
              </a:rPr>
              <a:t>Next Steps &amp; Future Work</a:t>
            </a:r>
            <a:endParaRPr lang="en-US" dirty="0"/>
          </a:p>
        </p:txBody>
      </p:sp>
      <p:sp>
        <p:nvSpPr>
          <p:cNvPr id="4" name="Object 3"/>
          <p:cNvSpPr/>
          <p:nvPr/>
        </p:nvSpPr>
        <p:spPr>
          <a:xfrm>
            <a:off x="1476006" y="1790252"/>
            <a:ext cx="1428393" cy="1428393"/>
          </a:xfrm>
          <a:prstGeom prst="ellipse">
            <a:avLst/>
          </a:prstGeom>
          <a:solidFill>
            <a:srgbClr val="b9d5b1"/>
          </a:solidFill>
        </p:spPr>
      </p:sp>
      <p:pic>
        <p:nvPicPr>
          <p:cNvPr id="5" name="Object 4" descr="">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21934" y="2211511"/>
            <a:ext cx="752287" cy="618970"/>
          </a:xfrm>
          <a:prstGeom prst="rect">
            <a:avLst/>
          </a:prstGeom>
        </p:spPr>
      </p:pic>
      <p:sp>
        <p:nvSpPr>
          <p:cNvPr id="6" name="Object 5"/>
          <p:cNvSpPr/>
          <p:nvPr/>
        </p:nvSpPr>
        <p:spPr>
          <a:xfrm>
            <a:off x="341386" y="3306729"/>
            <a:ext cx="3697633" cy="230328"/>
          </a:xfrm>
          <a:prstGeom prst="rect">
            <a:avLst/>
          </a:prstGeom>
          <a:noFill/>
        </p:spPr>
        <p:txBody>
          <a:bodyPr wrap="square" rtlCol="0" anchor="t" bIns="0" lIns="0" rIns="0" tIns="0"/>
          <a:lstStyle/>
          <a:p>
            <a:pPr algn="ctr">
              <a:lnSpc>
                <a:spcPts val="1814"/>
              </a:lnSpc>
              <a:buNone/>
            </a:pPr>
            <a:r>
              <a:rPr lang="en-US" sz="1440" dirty="0" smtClean="0">
                <a:solidFill>
                  <a:srgbClr val="071023"/>
                </a:solidFill>
                <a:latin typeface="Space Mono" pitchFamily="34" charset="0"/>
                <a:ea typeface="Space Mono" pitchFamily="34" charset="-122"/>
                <a:cs typeface="Space Mono" pitchFamily="34" charset="-120"/>
              </a:rPr>
              <a:t>Expand dataset</a:t>
            </a:r>
            <a:endParaRPr lang="en-US" dirty="0"/>
          </a:p>
        </p:txBody>
      </p:sp>
      <p:sp>
        <p:nvSpPr>
          <p:cNvPr id="7" name="Object 6"/>
          <p:cNvSpPr/>
          <p:nvPr/>
        </p:nvSpPr>
        <p:spPr>
          <a:xfrm>
            <a:off x="341386" y="3623555"/>
            <a:ext cx="3697633" cy="853068"/>
          </a:xfrm>
          <a:prstGeom prst="rect">
            <a:avLst/>
          </a:prstGeom>
          <a:noFill/>
        </p:spPr>
        <p:txBody>
          <a:bodyPr wrap="square" rtlCol="0" anchor="t" bIns="0" lIns="0" rIns="0" tIns="0"/>
          <a:lstStyle/>
          <a:p>
            <a:pPr algn="ctr">
              <a:lnSpc>
                <a:spcPts val="1680"/>
              </a:lnSpc>
              <a:spcBef>
                <a:spcPts val="668"/>
              </a:spcBef>
              <a:buNone/>
            </a:pPr>
            <a:r>
              <a:rPr lang="en-US" sz="1200" dirty="0" smtClean="0">
                <a:solidFill>
                  <a:srgbClr val="000000">
                    <a:alpha val="80000"/>
                  </a:srgbClr>
                </a:solidFill>
                <a:latin typeface="Space Mono" pitchFamily="34" charset="0"/>
                <a:ea typeface="Space Mono" pitchFamily="34" charset="-122"/>
                <a:cs typeface="Space Mono" pitchFamily="34" charset="-120"/>
              </a:rPr>
              <a:t>Include population density and infrastructure impact data to gain a more comprehensive understanding of earthquake risk and vulnerability.</a:t>
            </a:r>
            <a:endParaRPr lang="en-US" dirty="0"/>
          </a:p>
        </p:txBody>
      </p:sp>
      <p:sp>
        <p:nvSpPr>
          <p:cNvPr id="8" name="Object 7"/>
          <p:cNvSpPr/>
          <p:nvPr/>
        </p:nvSpPr>
        <p:spPr>
          <a:xfrm>
            <a:off x="5380280" y="1790252"/>
            <a:ext cx="1428393" cy="1428393"/>
          </a:xfrm>
          <a:prstGeom prst="ellipse">
            <a:avLst/>
          </a:prstGeom>
          <a:solidFill>
            <a:srgbClr val="b9d5b1"/>
          </a:solidFill>
        </p:spPr>
      </p:sp>
      <p:pic>
        <p:nvPicPr>
          <p:cNvPr id="9" name="Object 8" descr="">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851759" y="2186408"/>
            <a:ext cx="485654" cy="638015"/>
          </a:xfrm>
          <a:prstGeom prst="rect">
            <a:avLst/>
          </a:prstGeom>
        </p:spPr>
      </p:pic>
      <p:sp>
        <p:nvSpPr>
          <p:cNvPr id="10" name="Object 9"/>
          <p:cNvSpPr/>
          <p:nvPr/>
        </p:nvSpPr>
        <p:spPr>
          <a:xfrm>
            <a:off x="4298034" y="3306729"/>
            <a:ext cx="3592884" cy="230328"/>
          </a:xfrm>
          <a:prstGeom prst="rect">
            <a:avLst/>
          </a:prstGeom>
          <a:noFill/>
        </p:spPr>
        <p:txBody>
          <a:bodyPr wrap="square" rtlCol="0" anchor="t" bIns="0" lIns="0" rIns="0" tIns="0"/>
          <a:lstStyle/>
          <a:p>
            <a:pPr algn="ctr">
              <a:lnSpc>
                <a:spcPts val="1814"/>
              </a:lnSpc>
              <a:buNone/>
            </a:pPr>
            <a:r>
              <a:rPr lang="en-US" sz="1440" dirty="0" smtClean="0">
                <a:solidFill>
                  <a:srgbClr val="071023"/>
                </a:solidFill>
                <a:latin typeface="Space Mono" pitchFamily="34" charset="0"/>
                <a:ea typeface="Space Mono" pitchFamily="34" charset="-122"/>
                <a:cs typeface="Space Mono" pitchFamily="34" charset="-120"/>
              </a:rPr>
              <a:t>Develop predictive models</a:t>
            </a:r>
            <a:endParaRPr lang="en-US" dirty="0"/>
          </a:p>
        </p:txBody>
      </p:sp>
      <p:sp>
        <p:nvSpPr>
          <p:cNvPr id="11" name="Object 10"/>
          <p:cNvSpPr/>
          <p:nvPr/>
        </p:nvSpPr>
        <p:spPr>
          <a:xfrm>
            <a:off x="4298034" y="3623555"/>
            <a:ext cx="3592884" cy="1066335"/>
          </a:xfrm>
          <a:prstGeom prst="rect">
            <a:avLst/>
          </a:prstGeom>
          <a:noFill/>
        </p:spPr>
        <p:txBody>
          <a:bodyPr wrap="square" rtlCol="0" anchor="t" bIns="0" lIns="0" rIns="0" tIns="0"/>
          <a:lstStyle/>
          <a:p>
            <a:pPr algn="ctr">
              <a:lnSpc>
                <a:spcPts val="1680"/>
              </a:lnSpc>
              <a:spcBef>
                <a:spcPts val="668"/>
              </a:spcBef>
              <a:buNone/>
            </a:pPr>
            <a:r>
              <a:rPr lang="en-US" sz="1200" dirty="0" smtClean="0">
                <a:solidFill>
                  <a:srgbClr val="000000">
                    <a:alpha val="80000"/>
                  </a:srgbClr>
                </a:solidFill>
                <a:latin typeface="Space Mono" pitchFamily="34" charset="0"/>
                <a:ea typeface="Space Mono" pitchFamily="34" charset="-122"/>
                <a:cs typeface="Space Mono" pitchFamily="34" charset="-120"/>
              </a:rPr>
              <a:t>Create machine learning and statistical models to predict the impact of earthquakes on buildings, transportation, and critical infrastructure.</a:t>
            </a:r>
            <a:endParaRPr lang="en-US" dirty="0"/>
          </a:p>
        </p:txBody>
      </p:sp>
      <p:sp>
        <p:nvSpPr>
          <p:cNvPr id="12" name="Object 11"/>
          <p:cNvSpPr/>
          <p:nvPr/>
        </p:nvSpPr>
        <p:spPr>
          <a:xfrm>
            <a:off x="9284553" y="1790252"/>
            <a:ext cx="1428393" cy="1428393"/>
          </a:xfrm>
          <a:prstGeom prst="ellipse">
            <a:avLst/>
          </a:prstGeom>
          <a:solidFill>
            <a:srgbClr val="b9d5b1"/>
          </a:solidFill>
        </p:spPr>
      </p:sp>
      <p:pic>
        <p:nvPicPr>
          <p:cNvPr id="13" name="Object 12" descr="">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605377" y="2253364"/>
            <a:ext cx="790377" cy="495176"/>
          </a:xfrm>
          <a:prstGeom prst="rect">
            <a:avLst/>
          </a:prstGeom>
        </p:spPr>
      </p:pic>
      <p:sp>
        <p:nvSpPr>
          <p:cNvPr id="14" name="Object 13"/>
          <p:cNvSpPr/>
          <p:nvPr/>
        </p:nvSpPr>
        <p:spPr>
          <a:xfrm>
            <a:off x="8254682" y="3306729"/>
            <a:ext cx="3488135" cy="230328"/>
          </a:xfrm>
          <a:prstGeom prst="rect">
            <a:avLst/>
          </a:prstGeom>
          <a:noFill/>
        </p:spPr>
        <p:txBody>
          <a:bodyPr wrap="square" rtlCol="0" anchor="t" bIns="0" lIns="0" rIns="0" tIns="0"/>
          <a:lstStyle/>
          <a:p>
            <a:pPr algn="ctr">
              <a:lnSpc>
                <a:spcPts val="1814"/>
              </a:lnSpc>
              <a:buNone/>
            </a:pPr>
            <a:r>
              <a:rPr lang="en-US" sz="1440" dirty="0" smtClean="0">
                <a:solidFill>
                  <a:srgbClr val="071023"/>
                </a:solidFill>
                <a:latin typeface="Space Mono" pitchFamily="34" charset="0"/>
                <a:ea typeface="Space Mono" pitchFamily="34" charset="-122"/>
                <a:cs typeface="Space Mono" pitchFamily="34" charset="-120"/>
              </a:rPr>
              <a:t>Enhance visualization tools</a:t>
            </a:r>
            <a:endParaRPr lang="en-US" dirty="0"/>
          </a:p>
        </p:txBody>
      </p:sp>
      <p:sp>
        <p:nvSpPr>
          <p:cNvPr id="15" name="Object 14"/>
          <p:cNvSpPr/>
          <p:nvPr/>
        </p:nvSpPr>
        <p:spPr>
          <a:xfrm>
            <a:off x="8254682" y="3623555"/>
            <a:ext cx="3488135" cy="853068"/>
          </a:xfrm>
          <a:prstGeom prst="rect">
            <a:avLst/>
          </a:prstGeom>
          <a:noFill/>
        </p:spPr>
        <p:txBody>
          <a:bodyPr wrap="square" rtlCol="0" anchor="t" bIns="0" lIns="0" rIns="0" tIns="0"/>
          <a:lstStyle/>
          <a:p>
            <a:pPr algn="ctr">
              <a:lnSpc>
                <a:spcPts val="1680"/>
              </a:lnSpc>
              <a:spcBef>
                <a:spcPts val="668"/>
              </a:spcBef>
              <a:buNone/>
            </a:pPr>
            <a:r>
              <a:rPr lang="en-US" sz="1200" dirty="0" smtClean="0">
                <a:solidFill>
                  <a:srgbClr val="000000">
                    <a:alpha val="80000"/>
                  </a:srgbClr>
                </a:solidFill>
                <a:latin typeface="Space Mono" pitchFamily="34" charset="0"/>
                <a:ea typeface="Space Mono" pitchFamily="34" charset="-122"/>
                <a:cs typeface="Space Mono" pitchFamily="34" charset="-120"/>
              </a:rPr>
              <a:t>Develop dashboards and real-time mapping tools to support emergency response planning and decision-making.</a:t>
            </a:r>
            <a:endParaRPr lang="en-US" dirty="0"/>
          </a:p>
        </p:txBody>
      </p:sp>
      <p:sp>
        <p:nvSpPr>
          <p:cNvPr id="16" name="Object 15"/>
          <p:cNvSpPr/>
          <p:nvPr/>
        </p:nvSpPr>
        <p:spPr>
          <a:xfrm>
            <a:off x="0" y="5351712"/>
            <a:ext cx="12188952" cy="1504574"/>
          </a:xfrm>
          <a:prstGeom prst="rect">
            <a:avLst/>
          </a:prstGeom>
          <a:solidFill>
            <a:srgbClr val="b9d5b1"/>
          </a:solidFill>
        </p:spPr>
      </p:sp>
      <p:sp>
        <p:nvSpPr>
          <p:cNvPr id="17" name="Object 16"/>
          <p:cNvSpPr/>
          <p:nvPr/>
        </p:nvSpPr>
        <p:spPr>
          <a:xfrm>
            <a:off x="1092721" y="5664073"/>
            <a:ext cx="10003511" cy="863880"/>
          </a:xfrm>
          <a:prstGeom prst="rect">
            <a:avLst/>
          </a:prstGeom>
          <a:noFill/>
        </p:spPr>
        <p:txBody>
          <a:bodyPr wrap="square" rtlCol="0" anchor="ctr" bIns="0" lIns="0" rIns="0" tIns="0"/>
          <a:lstStyle/>
          <a:p>
            <a:pPr algn="ctr">
              <a:lnSpc>
                <a:spcPts val="2268"/>
              </a:lnSpc>
              <a:buNone/>
            </a:pPr>
            <a:r>
              <a:rPr lang="en-US" sz="1800" dirty="0" smtClean="0">
                <a:solidFill>
                  <a:srgbClr val="071023"/>
                </a:solidFill>
                <a:latin typeface="Space Mono" pitchFamily="34" charset="0"/>
                <a:ea typeface="Space Mono" pitchFamily="34" charset="-122"/>
                <a:cs typeface="Space Mono" pitchFamily="34" charset="-120"/>
              </a:rPr>
              <a:t>By expanding the dataset, developing predictive models, and enhancing visualization tools, we can improve earthquake impact assessment and enable more effective real-time response planning.</a:t>
            </a:r>
            <a:endParaRPr lang="en-US" dirty="0"/>
          </a:p>
        </p:txBody>
      </p:sp>
    </p:spTree>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1023"/>
        </a:solidFill>
        <a:effectLst/>
      </p:bgPr>
    </p:bg>
    <p:spTree>
      <p:nvGrpSpPr>
        <p:cNvPr id="1" name=""/>
        <p:cNvGrpSpPr/>
        <p:nvPr/>
      </p:nvGrpSpPr>
      <p:grpSpPr>
        <a:xfrm>
          <a:off x="0" y="0"/>
          <a:ext cx="0" cy="0"/>
          <a:chOff x="0" y="0"/>
          <a:chExt cx="0" cy="0"/>
        </a:xfrm>
      </p:grpSpPr>
      <p:pic>
        <p:nvPicPr>
          <p:cNvPr id="2" name="Object 1" descr="">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88952" cy="76181"/>
          </a:xfrm>
          <a:prstGeom prst="rect">
            <a:avLst/>
          </a:prstGeom>
        </p:spPr>
      </p:pic>
      <p:sp>
        <p:nvSpPr>
          <p:cNvPr id="3" name="Object 2"/>
          <p:cNvSpPr/>
          <p:nvPr/>
        </p:nvSpPr>
        <p:spPr>
          <a:xfrm>
            <a:off x="0" y="402628"/>
            <a:ext cx="12188952" cy="481686"/>
          </a:xfrm>
          <a:prstGeom prst="rect">
            <a:avLst/>
          </a:prstGeom>
          <a:noFill/>
        </p:spPr>
        <p:txBody>
          <a:bodyPr wrap="square" rtlCol="0" anchor="t" bIns="0" lIns="0" rIns="0" tIns="0"/>
          <a:lstStyle/>
          <a:p>
            <a:pPr algn="ctr">
              <a:lnSpc>
                <a:spcPts val="3794"/>
              </a:lnSpc>
              <a:buNone/>
            </a:pPr>
            <a:r>
              <a:rPr lang="en-US" sz="3563" spc="35" kern="0" dirty="0" smtClean="0">
                <a:solidFill>
                  <a:srgbClr val="f5f6f2"/>
                </a:solidFill>
                <a:latin typeface="Poppins" pitchFamily="34" charset="0"/>
                <a:ea typeface="Poppins" pitchFamily="34" charset="-122"/>
                <a:cs typeface="Poppins" pitchFamily="34" charset="-120"/>
              </a:rPr>
              <a:t>Challenges Faced</a:t>
            </a:r>
            <a:endParaRPr lang="en-US" dirty="0"/>
          </a:p>
        </p:txBody>
      </p:sp>
      <p:sp>
        <p:nvSpPr>
          <p:cNvPr id="4" name="Object 3"/>
          <p:cNvSpPr/>
          <p:nvPr/>
        </p:nvSpPr>
        <p:spPr>
          <a:xfrm>
            <a:off x="1476006" y="1899762"/>
            <a:ext cx="1428393" cy="1428393"/>
          </a:xfrm>
          <a:prstGeom prst="ellipse">
            <a:avLst/>
          </a:prstGeom>
          <a:solidFill>
            <a:srgbClr val="b9d5b1"/>
          </a:solidFill>
        </p:spPr>
      </p:sp>
      <p:pic>
        <p:nvPicPr>
          <p:cNvPr id="5" name="Object 4" descr="">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72151" y="2287552"/>
            <a:ext cx="638015" cy="676106"/>
          </a:xfrm>
          <a:prstGeom prst="rect">
            <a:avLst/>
          </a:prstGeom>
        </p:spPr>
      </p:pic>
      <p:sp>
        <p:nvSpPr>
          <p:cNvPr id="6" name="Object 5"/>
          <p:cNvSpPr/>
          <p:nvPr/>
        </p:nvSpPr>
        <p:spPr>
          <a:xfrm>
            <a:off x="493272" y="3416239"/>
            <a:ext cx="3393861" cy="230328"/>
          </a:xfrm>
          <a:prstGeom prst="rect">
            <a:avLst/>
          </a:prstGeom>
          <a:noFill/>
        </p:spPr>
        <p:txBody>
          <a:bodyPr wrap="square" rtlCol="0" anchor="t" bIns="0" lIns="0" rIns="0" tIns="0"/>
          <a:lstStyle/>
          <a:p>
            <a:pPr algn="ctr">
              <a:lnSpc>
                <a:spcPts val="1814"/>
              </a:lnSpc>
              <a:buNone/>
            </a:pPr>
            <a:r>
              <a:rPr lang="en-US" sz="1440" dirty="0" smtClean="0">
                <a:solidFill>
                  <a:srgbClr val="f5f6f2"/>
                </a:solidFill>
                <a:latin typeface="Space Mono" pitchFamily="34" charset="0"/>
                <a:ea typeface="Space Mono" pitchFamily="34" charset="-122"/>
                <a:cs typeface="Space Mono" pitchFamily="34" charset="-120"/>
              </a:rPr>
              <a:t>Incomplete data</a:t>
            </a:r>
            <a:endParaRPr lang="en-US" dirty="0"/>
          </a:p>
        </p:txBody>
      </p:sp>
      <p:sp>
        <p:nvSpPr>
          <p:cNvPr id="7" name="Object 6"/>
          <p:cNvSpPr/>
          <p:nvPr/>
        </p:nvSpPr>
        <p:spPr>
          <a:xfrm>
            <a:off x="493272" y="3733065"/>
            <a:ext cx="3393861" cy="853068"/>
          </a:xfrm>
          <a:prstGeom prst="rect">
            <a:avLst/>
          </a:prstGeom>
          <a:noFill/>
        </p:spPr>
        <p:txBody>
          <a:bodyPr wrap="square" rtlCol="0" anchor="t" bIns="0" lIns="0" rIns="0" tIns="0"/>
          <a:lstStyle/>
          <a:p>
            <a:pPr algn="ctr">
              <a:lnSpc>
                <a:spcPts val="1680"/>
              </a:lnSpc>
              <a:spcBef>
                <a:spcPts val="668"/>
              </a:spcBef>
              <a:buNone/>
            </a:pPr>
            <a:r>
              <a:rPr lang="en-US" sz="1200" dirty="0" smtClean="0">
                <a:solidFill>
                  <a:srgbClr val="ffffff">
                    <a:alpha val="80000"/>
                  </a:srgbClr>
                </a:solidFill>
                <a:latin typeface="Space Mono" pitchFamily="34" charset="0"/>
                <a:ea typeface="Space Mono" pitchFamily="34" charset="-122"/>
                <a:cs typeface="Space Mono" pitchFamily="34" charset="-120"/>
              </a:rPr>
              <a:t>The data set was missing key information, requiring extensive cleaning and validation to ensure accuracy.</a:t>
            </a:r>
            <a:endParaRPr lang="en-US" dirty="0"/>
          </a:p>
        </p:txBody>
      </p:sp>
      <p:sp>
        <p:nvSpPr>
          <p:cNvPr id="8" name="Object 7"/>
          <p:cNvSpPr/>
          <p:nvPr/>
        </p:nvSpPr>
        <p:spPr>
          <a:xfrm>
            <a:off x="5380280" y="1899762"/>
            <a:ext cx="1428393" cy="1428393"/>
          </a:xfrm>
          <a:prstGeom prst="ellipse">
            <a:avLst/>
          </a:prstGeom>
          <a:solidFill>
            <a:srgbClr val="b9d5b1"/>
          </a:solidFill>
        </p:spPr>
      </p:sp>
      <p:pic>
        <p:nvPicPr>
          <p:cNvPr id="9" name="Object 8" descr="">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768067" y="2295918"/>
            <a:ext cx="647538" cy="647538"/>
          </a:xfrm>
          <a:prstGeom prst="rect">
            <a:avLst/>
          </a:prstGeom>
        </p:spPr>
      </p:pic>
      <p:sp>
        <p:nvSpPr>
          <p:cNvPr id="10" name="Object 9"/>
          <p:cNvSpPr/>
          <p:nvPr/>
        </p:nvSpPr>
        <p:spPr>
          <a:xfrm>
            <a:off x="4245660" y="3416239"/>
            <a:ext cx="3697633" cy="230328"/>
          </a:xfrm>
          <a:prstGeom prst="rect">
            <a:avLst/>
          </a:prstGeom>
          <a:noFill/>
        </p:spPr>
        <p:txBody>
          <a:bodyPr wrap="square" rtlCol="0" anchor="t" bIns="0" lIns="0" rIns="0" tIns="0"/>
          <a:lstStyle/>
          <a:p>
            <a:pPr algn="ctr">
              <a:lnSpc>
                <a:spcPts val="1814"/>
              </a:lnSpc>
              <a:buNone/>
            </a:pPr>
            <a:r>
              <a:rPr lang="en-US" sz="1440" dirty="0" smtClean="0">
                <a:solidFill>
                  <a:srgbClr val="f5f6f2"/>
                </a:solidFill>
                <a:latin typeface="Space Mono" pitchFamily="34" charset="0"/>
                <a:ea typeface="Space Mono" pitchFamily="34" charset="-122"/>
                <a:cs typeface="Space Mono" pitchFamily="34" charset="-120"/>
              </a:rPr>
              <a:t>Visualization difficulties</a:t>
            </a:r>
            <a:endParaRPr lang="en-US" dirty="0"/>
          </a:p>
        </p:txBody>
      </p:sp>
      <p:sp>
        <p:nvSpPr>
          <p:cNvPr id="11" name="Object 10"/>
          <p:cNvSpPr/>
          <p:nvPr/>
        </p:nvSpPr>
        <p:spPr>
          <a:xfrm>
            <a:off x="4245660" y="3733065"/>
            <a:ext cx="3697633" cy="853068"/>
          </a:xfrm>
          <a:prstGeom prst="rect">
            <a:avLst/>
          </a:prstGeom>
          <a:noFill/>
        </p:spPr>
        <p:txBody>
          <a:bodyPr wrap="square" rtlCol="0" anchor="t" bIns="0" lIns="0" rIns="0" tIns="0"/>
          <a:lstStyle/>
          <a:p>
            <a:pPr algn="ctr">
              <a:lnSpc>
                <a:spcPts val="1680"/>
              </a:lnSpc>
              <a:spcBef>
                <a:spcPts val="668"/>
              </a:spcBef>
              <a:buNone/>
            </a:pPr>
            <a:r>
              <a:rPr lang="en-US" sz="1200" dirty="0" smtClean="0">
                <a:solidFill>
                  <a:srgbClr val="ffffff">
                    <a:alpha val="80000"/>
                  </a:srgbClr>
                </a:solidFill>
                <a:latin typeface="Space Mono" pitchFamily="34" charset="0"/>
                <a:ea typeface="Space Mono" pitchFamily="34" charset="-122"/>
                <a:cs typeface="Space Mono" pitchFamily="34" charset="-120"/>
              </a:rPr>
              <a:t>The complex nature of the data made it challenging to create informative visualizations, necessitating the use of advanced statistical tools.</a:t>
            </a:r>
            <a:endParaRPr lang="en-US" dirty="0"/>
          </a:p>
        </p:txBody>
      </p:sp>
      <p:sp>
        <p:nvSpPr>
          <p:cNvPr id="12" name="Object 11"/>
          <p:cNvSpPr/>
          <p:nvPr/>
        </p:nvSpPr>
        <p:spPr>
          <a:xfrm>
            <a:off x="9284553" y="1899762"/>
            <a:ext cx="1428393" cy="1428393"/>
          </a:xfrm>
          <a:prstGeom prst="ellipse">
            <a:avLst/>
          </a:prstGeom>
          <a:solidFill>
            <a:srgbClr val="b9d5b1"/>
          </a:solidFill>
        </p:spPr>
      </p:sp>
      <p:pic>
        <p:nvPicPr>
          <p:cNvPr id="13" name="Object 12" descr="">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714191" y="2270807"/>
            <a:ext cx="580880" cy="676106"/>
          </a:xfrm>
          <a:prstGeom prst="rect">
            <a:avLst/>
          </a:prstGeom>
        </p:spPr>
      </p:pic>
      <p:sp>
        <p:nvSpPr>
          <p:cNvPr id="14" name="Object 13"/>
          <p:cNvSpPr/>
          <p:nvPr/>
        </p:nvSpPr>
        <p:spPr>
          <a:xfrm>
            <a:off x="8149933" y="3416239"/>
            <a:ext cx="3697633" cy="230328"/>
          </a:xfrm>
          <a:prstGeom prst="rect">
            <a:avLst/>
          </a:prstGeom>
          <a:noFill/>
        </p:spPr>
        <p:txBody>
          <a:bodyPr wrap="square" rtlCol="0" anchor="t" bIns="0" lIns="0" rIns="0" tIns="0"/>
          <a:lstStyle/>
          <a:p>
            <a:pPr algn="ctr">
              <a:lnSpc>
                <a:spcPts val="1814"/>
              </a:lnSpc>
              <a:buNone/>
            </a:pPr>
            <a:r>
              <a:rPr lang="en-US" sz="1440" dirty="0" smtClean="0">
                <a:solidFill>
                  <a:srgbClr val="f5f6f2"/>
                </a:solidFill>
                <a:latin typeface="Space Mono" pitchFamily="34" charset="0"/>
                <a:ea typeface="Space Mono" pitchFamily="34" charset="-122"/>
                <a:cs typeface="Space Mono" pitchFamily="34" charset="-120"/>
              </a:rPr>
              <a:t>Adjusting strategy</a:t>
            </a:r>
            <a:endParaRPr lang="en-US" dirty="0"/>
          </a:p>
        </p:txBody>
      </p:sp>
      <p:sp>
        <p:nvSpPr>
          <p:cNvPr id="15" name="Object 14"/>
          <p:cNvSpPr/>
          <p:nvPr/>
        </p:nvSpPr>
        <p:spPr>
          <a:xfrm>
            <a:off x="8149933" y="3733065"/>
            <a:ext cx="3697633" cy="853068"/>
          </a:xfrm>
          <a:prstGeom prst="rect">
            <a:avLst/>
          </a:prstGeom>
          <a:noFill/>
        </p:spPr>
        <p:txBody>
          <a:bodyPr wrap="square" rtlCol="0" anchor="t" bIns="0" lIns="0" rIns="0" tIns="0"/>
          <a:lstStyle/>
          <a:p>
            <a:pPr algn="ctr">
              <a:lnSpc>
                <a:spcPts val="1680"/>
              </a:lnSpc>
              <a:spcBef>
                <a:spcPts val="668"/>
              </a:spcBef>
              <a:buNone/>
            </a:pPr>
            <a:r>
              <a:rPr lang="en-US" sz="1200" dirty="0" smtClean="0">
                <a:solidFill>
                  <a:srgbClr val="ffffff">
                    <a:alpha val="80000"/>
                  </a:srgbClr>
                </a:solidFill>
                <a:latin typeface="Space Mono" pitchFamily="34" charset="0"/>
                <a:ea typeface="Space Mono" pitchFamily="34" charset="-122"/>
                <a:cs typeface="Space Mono" pitchFamily="34" charset="-120"/>
              </a:rPr>
              <a:t>The initial region-based approach proved ineffective, leading to a shift towards a more global response strategy.</a:t>
            </a:r>
            <a:endParaRPr lang="en-US" dirty="0"/>
          </a:p>
        </p:txBody>
      </p:sp>
      <p:sp>
        <p:nvSpPr>
          <p:cNvPr id="16" name="Object 15"/>
          <p:cNvSpPr/>
          <p:nvPr/>
        </p:nvSpPr>
        <p:spPr>
          <a:xfrm>
            <a:off x="0" y="5351712"/>
            <a:ext cx="12188952" cy="1504574"/>
          </a:xfrm>
          <a:prstGeom prst="rect">
            <a:avLst/>
          </a:prstGeom>
          <a:solidFill>
            <a:srgbClr val="b9d5b1"/>
          </a:solidFill>
        </p:spPr>
      </p:sp>
      <p:sp>
        <p:nvSpPr>
          <p:cNvPr id="17" name="Object 16"/>
          <p:cNvSpPr/>
          <p:nvPr/>
        </p:nvSpPr>
        <p:spPr>
          <a:xfrm>
            <a:off x="1323168" y="5664073"/>
            <a:ext cx="9542616" cy="863880"/>
          </a:xfrm>
          <a:prstGeom prst="rect">
            <a:avLst/>
          </a:prstGeom>
          <a:noFill/>
        </p:spPr>
        <p:txBody>
          <a:bodyPr wrap="square" rtlCol="0" anchor="ctr" bIns="0" lIns="0" rIns="0" tIns="0"/>
          <a:lstStyle/>
          <a:p>
            <a:pPr algn="ctr">
              <a:lnSpc>
                <a:spcPts val="2268"/>
              </a:lnSpc>
              <a:buNone/>
            </a:pPr>
            <a:r>
              <a:rPr lang="en-US" sz="1800" dirty="0" smtClean="0">
                <a:solidFill>
                  <a:srgbClr val="071023"/>
                </a:solidFill>
                <a:latin typeface="Space Mono" pitchFamily="34" charset="0"/>
                <a:ea typeface="Space Mono" pitchFamily="34" charset="-122"/>
                <a:cs typeface="Space Mono" pitchFamily="34" charset="-120"/>
              </a:rPr>
              <a:t>By addressing these challenges through data cleaning, advanced analytics, and strategic pivoting, the team was able to deliver a more comprehensive and actionable solution.</a:t>
            </a:r>
            <a:endParaRPr lang="en-US" dirty="0"/>
          </a:p>
        </p:txBody>
      </p:sp>
    </p:spTree>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bf7"/>
        </a:solidFill>
        <a:effectLst/>
      </p:bgPr>
    </p:bg>
    <p:spTree>
      <p:nvGrpSpPr>
        <p:cNvPr id="1" name=""/>
        <p:cNvGrpSpPr/>
        <p:nvPr/>
      </p:nvGrpSpPr>
      <p:grpSpPr>
        <a:xfrm>
          <a:off x="0" y="0"/>
          <a:ext cx="0" cy="0"/>
          <a:chOff x="0" y="0"/>
          <a:chExt cx="0" cy="0"/>
        </a:xfrm>
      </p:grpSpPr>
      <p:pic>
        <p:nvPicPr>
          <p:cNvPr id="2" name="Object 1" descr="">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8475" cy="76181"/>
          </a:xfrm>
          <a:prstGeom prst="rect">
            <a:avLst/>
          </a:prstGeom>
        </p:spPr>
      </p:pic>
      <p:sp>
        <p:nvSpPr>
          <p:cNvPr id="3" name="Object 2"/>
          <p:cNvSpPr/>
          <p:nvPr/>
        </p:nvSpPr>
        <p:spPr>
          <a:xfrm>
            <a:off x="0" y="402628"/>
            <a:ext cx="12188952" cy="481686"/>
          </a:xfrm>
          <a:prstGeom prst="rect">
            <a:avLst/>
          </a:prstGeom>
          <a:noFill/>
        </p:spPr>
        <p:txBody>
          <a:bodyPr wrap="square" rtlCol="0" anchor="t" bIns="0" lIns="0" rIns="0" tIns="0"/>
          <a:lstStyle/>
          <a:p>
            <a:pPr algn="ctr">
              <a:lnSpc>
                <a:spcPts val="3794"/>
              </a:lnSpc>
              <a:buNone/>
            </a:pPr>
            <a:r>
              <a:rPr lang="en-US" sz="3563" spc="35" kern="0" dirty="0" smtClean="0">
                <a:solidFill>
                  <a:srgbClr val="071023"/>
                </a:solidFill>
                <a:latin typeface="Poppins" pitchFamily="34" charset="0"/>
                <a:ea typeface="Poppins" pitchFamily="34" charset="-122"/>
                <a:cs typeface="Poppins" pitchFamily="34" charset="-120"/>
              </a:rPr>
              <a:t>Conclusion &amp; Key Takeaways</a:t>
            </a:r>
            <a:endParaRPr lang="en-US" dirty="0"/>
          </a:p>
        </p:txBody>
      </p:sp>
      <p:sp>
        <p:nvSpPr>
          <p:cNvPr id="4" name="Object 3"/>
          <p:cNvSpPr/>
          <p:nvPr/>
        </p:nvSpPr>
        <p:spPr>
          <a:xfrm>
            <a:off x="1476006" y="1899762"/>
            <a:ext cx="1428393" cy="1428393"/>
          </a:xfrm>
          <a:prstGeom prst="ellipse">
            <a:avLst/>
          </a:prstGeom>
          <a:solidFill>
            <a:srgbClr val="b9d5b1"/>
          </a:solidFill>
        </p:spPr>
      </p:sp>
      <p:pic>
        <p:nvPicPr>
          <p:cNvPr id="5" name="Object 4" descr="">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13572" y="2212225"/>
            <a:ext cx="752287" cy="818945"/>
          </a:xfrm>
          <a:prstGeom prst="rect">
            <a:avLst/>
          </a:prstGeom>
        </p:spPr>
      </p:pic>
      <p:sp>
        <p:nvSpPr>
          <p:cNvPr id="6" name="Object 5"/>
          <p:cNvSpPr/>
          <p:nvPr/>
        </p:nvSpPr>
        <p:spPr>
          <a:xfrm>
            <a:off x="404235" y="3416239"/>
            <a:ext cx="3571934" cy="230328"/>
          </a:xfrm>
          <a:prstGeom prst="rect">
            <a:avLst/>
          </a:prstGeom>
          <a:noFill/>
        </p:spPr>
        <p:txBody>
          <a:bodyPr wrap="square" rtlCol="0" anchor="t" bIns="0" lIns="0" rIns="0" tIns="0"/>
          <a:lstStyle/>
          <a:p>
            <a:pPr algn="ctr">
              <a:lnSpc>
                <a:spcPts val="1814"/>
              </a:lnSpc>
              <a:buNone/>
            </a:pPr>
            <a:r>
              <a:rPr lang="en-US" sz="1440" dirty="0" smtClean="0">
                <a:solidFill>
                  <a:srgbClr val="071023"/>
                </a:solidFill>
                <a:latin typeface="Space Mono" pitchFamily="34" charset="0"/>
                <a:ea typeface="Space Mono" pitchFamily="34" charset="-122"/>
                <a:cs typeface="Space Mono" pitchFamily="34" charset="-120"/>
              </a:rPr>
              <a:t>Earthquake Magnitudes Uniform</a:t>
            </a:r>
            <a:endParaRPr lang="en-US" dirty="0"/>
          </a:p>
        </p:txBody>
      </p:sp>
      <p:sp>
        <p:nvSpPr>
          <p:cNvPr id="7" name="Object 6"/>
          <p:cNvSpPr/>
          <p:nvPr/>
        </p:nvSpPr>
        <p:spPr>
          <a:xfrm>
            <a:off x="404235" y="3733065"/>
            <a:ext cx="3571934" cy="853068"/>
          </a:xfrm>
          <a:prstGeom prst="rect">
            <a:avLst/>
          </a:prstGeom>
          <a:noFill/>
        </p:spPr>
        <p:txBody>
          <a:bodyPr wrap="square" rtlCol="0" anchor="t" bIns="0" lIns="0" rIns="0" tIns="0"/>
          <a:lstStyle/>
          <a:p>
            <a:pPr algn="ctr">
              <a:lnSpc>
                <a:spcPts val="1680"/>
              </a:lnSpc>
              <a:spcBef>
                <a:spcPts val="668"/>
              </a:spcBef>
              <a:buNone/>
            </a:pPr>
            <a:r>
              <a:rPr lang="en-US" sz="1200" dirty="0" smtClean="0">
                <a:solidFill>
                  <a:srgbClr val="000000">
                    <a:alpha val="80000"/>
                  </a:srgbClr>
                </a:solidFill>
                <a:latin typeface="Space Mono" pitchFamily="34" charset="0"/>
                <a:ea typeface="Space Mono" pitchFamily="34" charset="-122"/>
                <a:cs typeface="Space Mono" pitchFamily="34" charset="-120"/>
              </a:rPr>
              <a:t>Earthquake magnitudes follow a relatively uniform distribution, with no clear patterns or outliers in the data.</a:t>
            </a:r>
            <a:endParaRPr lang="en-US" dirty="0"/>
          </a:p>
        </p:txBody>
      </p:sp>
      <p:sp>
        <p:nvSpPr>
          <p:cNvPr id="8" name="Object 7"/>
          <p:cNvSpPr/>
          <p:nvPr/>
        </p:nvSpPr>
        <p:spPr>
          <a:xfrm>
            <a:off x="5380280" y="1899762"/>
            <a:ext cx="1428393" cy="1428393"/>
          </a:xfrm>
          <a:prstGeom prst="ellipse">
            <a:avLst/>
          </a:prstGeom>
          <a:solidFill>
            <a:srgbClr val="b9d5b1"/>
          </a:solidFill>
        </p:spPr>
      </p:sp>
      <p:pic>
        <p:nvPicPr>
          <p:cNvPr id="9" name="Object 8" descr="">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809913" y="2287546"/>
            <a:ext cx="561835" cy="638015"/>
          </a:xfrm>
          <a:prstGeom prst="rect">
            <a:avLst/>
          </a:prstGeom>
        </p:spPr>
      </p:pic>
      <p:sp>
        <p:nvSpPr>
          <p:cNvPr id="10" name="Object 9"/>
          <p:cNvSpPr/>
          <p:nvPr/>
        </p:nvSpPr>
        <p:spPr>
          <a:xfrm>
            <a:off x="4366121" y="3416239"/>
            <a:ext cx="3456711" cy="230328"/>
          </a:xfrm>
          <a:prstGeom prst="rect">
            <a:avLst/>
          </a:prstGeom>
          <a:noFill/>
        </p:spPr>
        <p:txBody>
          <a:bodyPr wrap="square" rtlCol="0" anchor="t" bIns="0" lIns="0" rIns="0" tIns="0"/>
          <a:lstStyle/>
          <a:p>
            <a:pPr algn="ctr">
              <a:lnSpc>
                <a:spcPts val="1814"/>
              </a:lnSpc>
              <a:buNone/>
            </a:pPr>
            <a:r>
              <a:rPr lang="en-US" sz="1440" dirty="0" smtClean="0">
                <a:solidFill>
                  <a:srgbClr val="071023"/>
                </a:solidFill>
                <a:latin typeface="Space Mono" pitchFamily="34" charset="0"/>
                <a:ea typeface="Space Mono" pitchFamily="34" charset="-122"/>
                <a:cs typeface="Space Mono" pitchFamily="34" charset="-120"/>
              </a:rPr>
              <a:t>Standardized Global Response</a:t>
            </a:r>
            <a:endParaRPr lang="en-US" dirty="0"/>
          </a:p>
        </p:txBody>
      </p:sp>
      <p:sp>
        <p:nvSpPr>
          <p:cNvPr id="11" name="Object 10"/>
          <p:cNvSpPr/>
          <p:nvPr/>
        </p:nvSpPr>
        <p:spPr>
          <a:xfrm>
            <a:off x="4366121" y="3733065"/>
            <a:ext cx="3456711" cy="853068"/>
          </a:xfrm>
          <a:prstGeom prst="rect">
            <a:avLst/>
          </a:prstGeom>
          <a:noFill/>
        </p:spPr>
        <p:txBody>
          <a:bodyPr wrap="square" rtlCol="0" anchor="t" bIns="0" lIns="0" rIns="0" tIns="0"/>
          <a:lstStyle/>
          <a:p>
            <a:pPr algn="ctr">
              <a:lnSpc>
                <a:spcPts val="1680"/>
              </a:lnSpc>
              <a:spcBef>
                <a:spcPts val="668"/>
              </a:spcBef>
              <a:buNone/>
            </a:pPr>
            <a:r>
              <a:rPr lang="en-US" sz="1200" dirty="0" smtClean="0">
                <a:solidFill>
                  <a:srgbClr val="000000">
                    <a:alpha val="80000"/>
                  </a:srgbClr>
                </a:solidFill>
                <a:latin typeface="Space Mono" pitchFamily="34" charset="0"/>
                <a:ea typeface="Space Mono" pitchFamily="34" charset="-122"/>
                <a:cs typeface="Space Mono" pitchFamily="34" charset="-120"/>
              </a:rPr>
              <a:t>A standardized, global response strategy is recommended to effectively coordinate disaster relief and recovery efforts.</a:t>
            </a:r>
            <a:endParaRPr lang="en-US" dirty="0"/>
          </a:p>
        </p:txBody>
      </p:sp>
      <p:sp>
        <p:nvSpPr>
          <p:cNvPr id="12" name="Object 11"/>
          <p:cNvSpPr/>
          <p:nvPr/>
        </p:nvSpPr>
        <p:spPr>
          <a:xfrm>
            <a:off x="9284553" y="1899762"/>
            <a:ext cx="1428393" cy="1428393"/>
          </a:xfrm>
          <a:prstGeom prst="ellipse">
            <a:avLst/>
          </a:prstGeom>
          <a:solidFill>
            <a:srgbClr val="b9d5b1"/>
          </a:solidFill>
        </p:spPr>
      </p:sp>
      <p:pic>
        <p:nvPicPr>
          <p:cNvPr id="13" name="Object 12" descr="">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781141" y="2295915"/>
            <a:ext cx="438040" cy="657061"/>
          </a:xfrm>
          <a:prstGeom prst="rect">
            <a:avLst/>
          </a:prstGeom>
        </p:spPr>
      </p:pic>
      <p:sp>
        <p:nvSpPr>
          <p:cNvPr id="14" name="Object 13"/>
          <p:cNvSpPr/>
          <p:nvPr/>
        </p:nvSpPr>
        <p:spPr>
          <a:xfrm>
            <a:off x="8149933" y="3416239"/>
            <a:ext cx="3697633" cy="230328"/>
          </a:xfrm>
          <a:prstGeom prst="rect">
            <a:avLst/>
          </a:prstGeom>
          <a:noFill/>
        </p:spPr>
        <p:txBody>
          <a:bodyPr wrap="square" rtlCol="0" anchor="t" bIns="0" lIns="0" rIns="0" tIns="0"/>
          <a:lstStyle/>
          <a:p>
            <a:pPr algn="ctr">
              <a:lnSpc>
                <a:spcPts val="1814"/>
              </a:lnSpc>
              <a:buNone/>
            </a:pPr>
            <a:r>
              <a:rPr lang="en-US" sz="1440" dirty="0" smtClean="0">
                <a:solidFill>
                  <a:srgbClr val="071023"/>
                </a:solidFill>
                <a:latin typeface="Space Mono" pitchFamily="34" charset="0"/>
                <a:ea typeface="Space Mono" pitchFamily="34" charset="-122"/>
                <a:cs typeface="Space Mono" pitchFamily="34" charset="-120"/>
              </a:rPr>
              <a:t>Enhance Predictive Models</a:t>
            </a:r>
            <a:endParaRPr lang="en-US" dirty="0"/>
          </a:p>
        </p:txBody>
      </p:sp>
      <p:sp>
        <p:nvSpPr>
          <p:cNvPr id="15" name="Object 14"/>
          <p:cNvSpPr/>
          <p:nvPr/>
        </p:nvSpPr>
        <p:spPr>
          <a:xfrm>
            <a:off x="8149933" y="3733065"/>
            <a:ext cx="3697633" cy="853068"/>
          </a:xfrm>
          <a:prstGeom prst="rect">
            <a:avLst/>
          </a:prstGeom>
          <a:noFill/>
        </p:spPr>
        <p:txBody>
          <a:bodyPr wrap="square" rtlCol="0" anchor="t" bIns="0" lIns="0" rIns="0" tIns="0"/>
          <a:lstStyle/>
          <a:p>
            <a:pPr algn="ctr">
              <a:lnSpc>
                <a:spcPts val="1680"/>
              </a:lnSpc>
              <a:spcBef>
                <a:spcPts val="668"/>
              </a:spcBef>
              <a:buNone/>
            </a:pPr>
            <a:r>
              <a:rPr lang="en-US" sz="1200" dirty="0" smtClean="0">
                <a:solidFill>
                  <a:srgbClr val="000000">
                    <a:alpha val="80000"/>
                  </a:srgbClr>
                </a:solidFill>
                <a:latin typeface="Space Mono" pitchFamily="34" charset="0"/>
                <a:ea typeface="Space Mono" pitchFamily="34" charset="-122"/>
                <a:cs typeface="Space Mono" pitchFamily="34" charset="-120"/>
              </a:rPr>
              <a:t>Further research and analysis are needed to enhance the accuracy and reliability of earthquake predictive models.</a:t>
            </a:r>
            <a:endParaRPr lang="en-US" dirty="0"/>
          </a:p>
        </p:txBody>
      </p:sp>
      <p:sp>
        <p:nvSpPr>
          <p:cNvPr id="16" name="Object 15"/>
          <p:cNvSpPr/>
          <p:nvPr/>
        </p:nvSpPr>
        <p:spPr>
          <a:xfrm>
            <a:off x="0" y="5351712"/>
            <a:ext cx="12188952" cy="1504574"/>
          </a:xfrm>
          <a:prstGeom prst="rect">
            <a:avLst/>
          </a:prstGeom>
          <a:solidFill>
            <a:srgbClr val="143642"/>
          </a:solidFill>
        </p:spPr>
      </p:sp>
      <p:sp>
        <p:nvSpPr>
          <p:cNvPr id="17" name="Object 16"/>
          <p:cNvSpPr/>
          <p:nvPr/>
        </p:nvSpPr>
        <p:spPr>
          <a:xfrm>
            <a:off x="90465" y="5664073"/>
            <a:ext cx="12008022" cy="863880"/>
          </a:xfrm>
          <a:prstGeom prst="rect">
            <a:avLst/>
          </a:prstGeom>
          <a:noFill/>
        </p:spPr>
        <p:txBody>
          <a:bodyPr wrap="square" rtlCol="0" anchor="ctr" bIns="0" lIns="0" rIns="0" tIns="0"/>
          <a:lstStyle/>
          <a:p>
            <a:pPr algn="ctr">
              <a:lnSpc>
                <a:spcPts val="2268"/>
              </a:lnSpc>
              <a:buNone/>
            </a:pPr>
            <a:r>
              <a:rPr lang="en-US" sz="1800" dirty="0" smtClean="0">
                <a:solidFill>
                  <a:srgbClr val="f5f6f2"/>
                </a:solidFill>
                <a:latin typeface="Space Mono" pitchFamily="34" charset="0"/>
                <a:ea typeface="Space Mono" pitchFamily="34" charset="-122"/>
                <a:cs typeface="Space Mono" pitchFamily="34" charset="-120"/>
              </a:rPr>
              <a:t>In conclusion, the key takeaways from this analysis highlight the importance of developing a coordinated global response strategy, while also emphasizing the need for continued research to improve earthquake prediction capabilities.</a:t>
            </a:r>
            <a:endParaRPr lang="en-US" dirty="0"/>
          </a:p>
        </p:txBody>
      </p:sp>
    </p:spTree>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bf7"/>
        </a:solidFill>
        <a:effectLst/>
      </p:bgPr>
    </p:bg>
    <p:spTree>
      <p:nvGrpSpPr>
        <p:cNvPr id="1" name=""/>
        <p:cNvGrpSpPr/>
        <p:nvPr/>
      </p:nvGrpSpPr>
      <p:grpSpPr>
        <a:xfrm>
          <a:off x="0" y="0"/>
          <a:ext cx="0" cy="0"/>
          <a:chOff x="0" y="0"/>
          <a:chExt cx="0" cy="0"/>
        </a:xfrm>
      </p:grpSpPr>
      <p:sp>
        <p:nvSpPr>
          <p:cNvPr id="2" name="Object 1"/>
          <p:cNvSpPr/>
          <p:nvPr/>
        </p:nvSpPr>
        <p:spPr>
          <a:xfrm>
            <a:off x="19045" y="2597592"/>
            <a:ext cx="12150862" cy="481686"/>
          </a:xfrm>
          <a:prstGeom prst="rect">
            <a:avLst/>
          </a:prstGeom>
          <a:noFill/>
        </p:spPr>
        <p:txBody>
          <a:bodyPr wrap="square" rtlCol="0" anchor="ctr" bIns="0" lIns="0" rIns="0" tIns="0"/>
          <a:lstStyle/>
          <a:p>
            <a:pPr algn="ctr">
              <a:lnSpc>
                <a:spcPts val="3794"/>
              </a:lnSpc>
              <a:buNone/>
            </a:pPr>
            <a:r>
              <a:rPr lang="en-US" sz="3563" spc="35" kern="0" dirty="0" smtClean="0">
                <a:solidFill>
                  <a:srgbClr val="071023"/>
                </a:solidFill>
                <a:latin typeface="Poppins" pitchFamily="34" charset="0"/>
                <a:ea typeface="Poppins" pitchFamily="34" charset="-122"/>
                <a:cs typeface="Poppins" pitchFamily="34" charset="-120"/>
              </a:rPr>
              <a:t>Q&amp;A</a:t>
            </a:r>
            <a:endParaRPr lang="en-US" dirty="0"/>
          </a:p>
        </p:txBody>
      </p:sp>
      <p:sp>
        <p:nvSpPr>
          <p:cNvPr id="3" name="Object 2"/>
          <p:cNvSpPr/>
          <p:nvPr/>
        </p:nvSpPr>
        <p:spPr>
          <a:xfrm>
            <a:off x="19045" y="3210214"/>
            <a:ext cx="12150862" cy="1023682"/>
          </a:xfrm>
          <a:prstGeom prst="rect">
            <a:avLst/>
          </a:prstGeom>
          <a:noFill/>
        </p:spPr>
        <p:txBody>
          <a:bodyPr wrap="square" rtlCol="0" anchor="ctr" bIns="0" lIns="0" rIns="0" tIns="0"/>
          <a:lstStyle/>
          <a:p>
            <a:pPr algn="ctr">
              <a:lnSpc>
                <a:spcPts val="2016"/>
              </a:lnSpc>
              <a:spcBef>
                <a:spcPts val="1011"/>
              </a:spcBef>
              <a:buNone/>
            </a:pPr>
            <a:r>
              <a:rPr lang="en-US" sz="1440" dirty="0" smtClean="0">
                <a:solidFill>
                  <a:srgbClr val="000000">
                    <a:alpha val="80000"/>
                  </a:srgbClr>
                </a:solidFill>
                <a:latin typeface="Space Mono" pitchFamily="34" charset="0"/>
                <a:ea typeface="Space Mono" pitchFamily="34" charset="-122"/>
                <a:cs typeface="Space Mono" pitchFamily="34" charset="-120"/>
              </a:rPr>
              <a:t>We appreciate your interest in our presentation. This slide is dedicated to addressing any questions or feedback you may have about the content we've covered or the project we've outlined. Please feel free to share your thoughts and inquiries, and we'll do our best to provide helpful and informative responses.</a:t>
            </a:r>
            <a:endParaRPr lang="en-US" dirty="0"/>
          </a:p>
        </p:txBody>
      </p:sp>
    </p:spTree>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file>

<file path=ppt/tags/tag2.xml><?xml version="1.0" encoding="utf-8"?>
<p:tagLst xmlns:a="http://schemas.openxmlformats.org/drawingml/2006/main" xmlns:r="http://schemas.openxmlformats.org/officeDocument/2006/relationships" xmlns:p="http://schemas.openxmlformats.org/presentationml/2006/main"/>
</file>

<file path=ppt/tags/tag3.xml><?xml version="1.0" encoding="utf-8"?>
<p:tagLst xmlns:a="http://schemas.openxmlformats.org/drawingml/2006/main" xmlns:r="http://schemas.openxmlformats.org/officeDocument/2006/relationships" xmlns:p="http://schemas.openxmlformats.org/presentationml/2006/main"/>
</file>

<file path=ppt/tags/tag4.xml><?xml version="1.0" encoding="utf-8"?>
<p:tagLst xmlns:a="http://schemas.openxmlformats.org/drawingml/2006/main" xmlns:r="http://schemas.openxmlformats.org/officeDocument/2006/relationships" xmlns:p="http://schemas.openxmlformats.org/presentationml/2006/main"/>
</file>

<file path=ppt/tags/tag5.xml><?xml version="1.0" encoding="utf-8"?>
<p:tagLst xmlns:a="http://schemas.openxmlformats.org/drawingml/2006/main" xmlns:r="http://schemas.openxmlformats.org/officeDocument/2006/relationships" xmlns:p="http://schemas.openxmlformats.org/presentationml/2006/main"/>
</file>

<file path=ppt/tags/tag6.xml><?xml version="1.0" encoding="utf-8"?>
<p:tagLst xmlns:a="http://schemas.openxmlformats.org/drawingml/2006/main" xmlns:r="http://schemas.openxmlformats.org/officeDocument/2006/relationships" xmlns:p="http://schemas.openxmlformats.org/presentationml/2006/main"/>
</file>

<file path=ppt/tags/tag7.xml><?xml version="1.0" encoding="utf-8"?>
<p:tagLst xmlns:a="http://schemas.openxmlformats.org/drawingml/2006/main" xmlns:r="http://schemas.openxmlformats.org/officeDocument/2006/relationships" xmlns:p="http://schemas.openxmlformats.org/presentationml/2006/main"/>
</file>

<file path=ppt/tags/tag8.xml><?xml version="1.0" encoding="utf-8"?>
<p:tagLst xmlns:a="http://schemas.openxmlformats.org/drawingml/2006/main" xmlns:r="http://schemas.openxmlformats.org/officeDocument/2006/relationships" xmlns:p="http://schemas.openxmlformats.org/presentationml/2006/main"/>
</file>

<file path=ppt/tags/tag9.xml><?xml version="1.0" encoding="utf-8"?>
<p:tagLst xmlns:a="http://schemas.openxmlformats.org/drawingml/2006/main" xmlns:r="http://schemas.openxmlformats.org/officeDocument/2006/relationships" xmlns:p="http://schemas.openxmlformats.org/presentationml/2006/main"/>
</file>

<file path=ppt/tags/tag10.xml><?xml version="1.0" encoding="utf-8"?>
<p:tagLst xmlns:a="http://schemas.openxmlformats.org/drawingml/2006/main" xmlns:r="http://schemas.openxmlformats.org/officeDocument/2006/relationships" xmlns:p="http://schemas.openxmlformats.org/presentationml/2006/main"/>
</file>

<file path=ppt/tags/tag11.xml><?xml version="1.0" encoding="utf-8"?>
<p:tagLst xmlns:a="http://schemas.openxmlformats.org/drawingml/2006/main" xmlns:r="http://schemas.openxmlformats.org/officeDocument/2006/relationships" xmlns:p="http://schemas.openxmlformats.org/presentationml/2006/main"/>
</file>

<file path=ppt/tags/tag12.xml><?xml version="1.0" encoding="utf-8"?>
<p:tagLst xmlns:a="http://schemas.openxmlformats.org/drawingml/2006/main" xmlns:r="http://schemas.openxmlformats.org/officeDocument/2006/relationships" xmlns:p="http://schemas.openxmlformats.org/presentationml/2006/main"/>
</file>

<file path=ppt/theme/theme1.xml><?xml version="1.0" encoding="utf-8"?>
<a:theme xmlns:a="http://schemas.openxmlformats.org/drawingml/2006/main" name="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PresentationFormat>
  <Paragraphs>0</Paragraphs>
  <Slides>12</Slides>
  <Notes>12</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Beautiful.ai</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Earthquake Data Analysis for Disaster Response</dc:title>
  <dc:subject>Earthquake Data Analysis for Disaster Response</dc:subject>
  <dc:creator>Valeria Mint</dc:creator>
  <cp:lastModifiedBy>Valeria Mint</cp:lastModifiedBy>
  <cp:revision>1</cp:revision>
  <dcterms:created xsi:type="dcterms:W3CDTF">2025-02-16T08:52:49.167Z</dcterms:created>
  <dcterms:modified xsi:type="dcterms:W3CDTF">2025-02-16T08:52:49.167Z</dcterms:modified>
</cp:coreProperties>
</file>