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14630400" cy="8229600"/>
  <p:notesSz cx="8229600" cy="14630400"/>
  <p:embeddedFontLst>
    <p:embeddedFont>
      <p:font typeface="Gelasio" panose="020B0604020202020204" charset="0"/>
      <p:regular r:id="rId1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C2C0"/>
    <a:srgbClr val="D8B6A4"/>
    <a:srgbClr val="4643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7904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6401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Natural Disaster Alert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32173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Welcome! Our team has been analyzing earthquake data to help improve disaster response strategies.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30268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By Valeriya Mintseva &amp; Matthias Gulas</a:t>
            </a:r>
            <a:endParaRPr lang="en-US" sz="17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DDF516-7E82-657C-310B-29BCF04B0C4A}"/>
              </a:ext>
            </a:extLst>
          </p:cNvPr>
          <p:cNvSpPr txBox="1"/>
          <p:nvPr/>
        </p:nvSpPr>
        <p:spPr>
          <a:xfrm>
            <a:off x="-6016" y="7860268"/>
            <a:ext cx="421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D8B6A4"/>
                </a:solidFill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76863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Challenge: Time is Critical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304871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Widespread Destruction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Earthquakes can cause significant damage and loss of life.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Response Delays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Emergency teams face delays due to a lack of predictive models.</a:t>
            </a:r>
            <a:endParaRPr lang="en-US" sz="175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D07F020-5C6C-B917-DE39-CB108C596876}"/>
              </a:ext>
            </a:extLst>
          </p:cNvPr>
          <p:cNvSpPr/>
          <p:nvPr/>
        </p:nvSpPr>
        <p:spPr>
          <a:xfrm>
            <a:off x="12618720" y="7785463"/>
            <a:ext cx="1907177" cy="444137"/>
          </a:xfrm>
          <a:prstGeom prst="rect">
            <a:avLst/>
          </a:prstGeom>
          <a:solidFill>
            <a:srgbClr val="464342"/>
          </a:solidFill>
          <a:ln>
            <a:solidFill>
              <a:srgbClr val="464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3E0A67-BB80-E71F-D7B9-26656AD12BFF}"/>
              </a:ext>
            </a:extLst>
          </p:cNvPr>
          <p:cNvSpPr txBox="1"/>
          <p:nvPr/>
        </p:nvSpPr>
        <p:spPr>
          <a:xfrm>
            <a:off x="104503" y="7822865"/>
            <a:ext cx="445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D8B6A4"/>
                </a:solidFill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7399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Our Solution: Predictive Insights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48686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878860" y="352937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3486864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Analyze Earthquake Data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4331613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We analyze historical earthquake data to find patterns and trends, aiming to predict magnitude and location of the next disaster.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348686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4770537" y="352937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34868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Improve Preparedness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3977283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Identify trends to enhance disaster preparedness strategies.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660385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878860" y="664636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66038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Data-driven Response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1025" y="695818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Develop a data-driven response strategy to guide emergency teams.</a:t>
            </a:r>
            <a:endParaRPr lang="en-US" sz="175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DDEA36-65CD-3CC6-3B76-C3499D438F5F}"/>
              </a:ext>
            </a:extLst>
          </p:cNvPr>
          <p:cNvSpPr txBox="1"/>
          <p:nvPr/>
        </p:nvSpPr>
        <p:spPr>
          <a:xfrm>
            <a:off x="156411" y="7860268"/>
            <a:ext cx="409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D8B6A4"/>
                </a:solidFill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112" y="2749272"/>
            <a:ext cx="3573780" cy="2636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0" y="178427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Progress: Data Collection &amp; Analysis</a:t>
            </a:r>
            <a:endParaRPr lang="en-US" sz="4450" dirty="0"/>
          </a:p>
        </p:txBody>
      </p:sp>
      <p:sp>
        <p:nvSpPr>
          <p:cNvPr id="5" name="Shape 1"/>
          <p:cNvSpPr/>
          <p:nvPr/>
        </p:nvSpPr>
        <p:spPr>
          <a:xfrm>
            <a:off x="6535341" y="3541990"/>
            <a:ext cx="30480" cy="2903220"/>
          </a:xfrm>
          <a:prstGeom prst="roundRect">
            <a:avLst>
              <a:gd name="adj" fmla="val 111628"/>
            </a:avLst>
          </a:prstGeom>
          <a:solidFill>
            <a:srgbClr val="504D4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2"/>
          <p:cNvSpPr/>
          <p:nvPr/>
        </p:nvSpPr>
        <p:spPr>
          <a:xfrm>
            <a:off x="6760012" y="4037052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504D4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3"/>
          <p:cNvSpPr/>
          <p:nvPr/>
        </p:nvSpPr>
        <p:spPr>
          <a:xfrm>
            <a:off x="6280190" y="379714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4"/>
          <p:cNvSpPr/>
          <p:nvPr/>
        </p:nvSpPr>
        <p:spPr>
          <a:xfrm>
            <a:off x="6365260" y="383964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2650" dirty="0"/>
          </a:p>
        </p:txBody>
      </p:sp>
      <p:sp>
        <p:nvSpPr>
          <p:cNvPr id="9" name="Text 5"/>
          <p:cNvSpPr/>
          <p:nvPr/>
        </p:nvSpPr>
        <p:spPr>
          <a:xfrm>
            <a:off x="7669411" y="3768804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Global Earthquake Data Collection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6760012" y="5080397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504D4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7"/>
          <p:cNvSpPr/>
          <p:nvPr/>
        </p:nvSpPr>
        <p:spPr>
          <a:xfrm>
            <a:off x="6280190" y="484048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8"/>
          <p:cNvSpPr/>
          <p:nvPr/>
        </p:nvSpPr>
        <p:spPr>
          <a:xfrm>
            <a:off x="6365260" y="488299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9"/>
          <p:cNvSpPr/>
          <p:nvPr/>
        </p:nvSpPr>
        <p:spPr>
          <a:xfrm>
            <a:off x="7669411" y="4812149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Cleaning and Processing and visualization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using Pandas and </a:t>
            </a:r>
            <a:r>
              <a:rPr lang="en-US" sz="1750" dirty="0">
                <a:solidFill>
                  <a:srgbClr val="C9C2C0"/>
                </a:solidFill>
                <a:latin typeface="Gelasio" pitchFamily="34" charset="0"/>
                <a:cs typeface="Gelasio" pitchFamily="34" charset="-120"/>
              </a:rPr>
              <a:t>Matplotlib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6760012" y="6123742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504D4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1"/>
          <p:cNvSpPr/>
          <p:nvPr/>
        </p:nvSpPr>
        <p:spPr>
          <a:xfrm>
            <a:off x="6280190" y="5883831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2"/>
          <p:cNvSpPr/>
          <p:nvPr/>
        </p:nvSpPr>
        <p:spPr>
          <a:xfrm>
            <a:off x="6365260" y="592633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2650" dirty="0"/>
          </a:p>
        </p:txBody>
      </p:sp>
      <p:sp>
        <p:nvSpPr>
          <p:cNvPr id="17" name="Text 13"/>
          <p:cNvSpPr/>
          <p:nvPr/>
        </p:nvSpPr>
        <p:spPr>
          <a:xfrm>
            <a:off x="7669411" y="5855494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Trend Identification: Magnitude &amp; Location</a:t>
            </a:r>
            <a:endParaRPr lang="en-US" sz="175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E401DBF-562B-77DB-28E1-8F5763AFBB00}"/>
              </a:ext>
            </a:extLst>
          </p:cNvPr>
          <p:cNvSpPr/>
          <p:nvPr/>
        </p:nvSpPr>
        <p:spPr>
          <a:xfrm>
            <a:off x="12592594" y="7772400"/>
            <a:ext cx="2037806" cy="457200"/>
          </a:xfrm>
          <a:prstGeom prst="rect">
            <a:avLst/>
          </a:prstGeom>
          <a:solidFill>
            <a:srgbClr val="464342"/>
          </a:solidFill>
          <a:ln>
            <a:solidFill>
              <a:srgbClr val="464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3D8285-99F6-99C4-DF61-9F92E60C12B6}"/>
              </a:ext>
            </a:extLst>
          </p:cNvPr>
          <p:cNvSpPr txBox="1"/>
          <p:nvPr/>
        </p:nvSpPr>
        <p:spPr>
          <a:xfrm>
            <a:off x="14137106" y="7816334"/>
            <a:ext cx="360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D8B6A4"/>
                </a:solidFill>
              </a:rPr>
              <a:t>4</a:t>
            </a:r>
          </a:p>
        </p:txBody>
      </p:sp>
      <p:pic>
        <p:nvPicPr>
          <p:cNvPr id="25" name="Рисунок 24" descr="Изображение выглядит как диаграмма, текст, График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EE2B204-329A-AA3F-F877-163BE1D307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5530044" cy="2828195"/>
          </a:xfrm>
          <a:prstGeom prst="rect">
            <a:avLst/>
          </a:prstGeom>
        </p:spPr>
      </p:pic>
      <p:pic>
        <p:nvPicPr>
          <p:cNvPr id="27" name="Рисунок 26" descr="Изображение выглядит как текст, снимок экрана, диаграмма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0B4CB57-6D00-64E8-60B8-6458D7DDFB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2110" y="5454715"/>
            <a:ext cx="5530044" cy="27748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C7DD1BB-DF4E-38E9-5158-5BC8448DB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565"/>
            <a:ext cx="14630400" cy="3658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0494C9-6E04-4897-5755-358A6D68FC38}"/>
              </a:ext>
            </a:extLst>
          </p:cNvPr>
          <p:cNvSpPr txBox="1"/>
          <p:nvPr/>
        </p:nvSpPr>
        <p:spPr>
          <a:xfrm>
            <a:off x="228600" y="7712242"/>
            <a:ext cx="481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D8B6A4"/>
                </a:solidFill>
              </a:rPr>
              <a:t>5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7C3879C-5D89-316B-42DE-30EFA03DCE1D}"/>
              </a:ext>
            </a:extLst>
          </p:cNvPr>
          <p:cNvSpPr/>
          <p:nvPr/>
        </p:nvSpPr>
        <p:spPr>
          <a:xfrm>
            <a:off x="12464716" y="7395775"/>
            <a:ext cx="2045368" cy="818147"/>
          </a:xfrm>
          <a:prstGeom prst="rect">
            <a:avLst/>
          </a:prstGeom>
          <a:solidFill>
            <a:srgbClr val="464342"/>
          </a:solidFill>
          <a:ln>
            <a:solidFill>
              <a:srgbClr val="464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93AAA2-C389-A293-8E4D-CDB9E41A934C}"/>
              </a:ext>
            </a:extLst>
          </p:cNvPr>
          <p:cNvSpPr txBox="1"/>
          <p:nvPr/>
        </p:nvSpPr>
        <p:spPr>
          <a:xfrm>
            <a:off x="469231" y="3761684"/>
            <a:ext cx="8049126" cy="777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50" dirty="0">
                <a:solidFill>
                  <a:srgbClr val="D8B6A4"/>
                </a:solidFill>
                <a:latin typeface="Gelasio" panose="020B0604020202020204" charset="0"/>
                <a:cs typeface="Gelasio" panose="020B0604020202020204" charset="0"/>
              </a:rPr>
              <a:t>Our Dataset</a:t>
            </a:r>
            <a:endParaRPr lang="ru-RU" sz="4450" dirty="0">
              <a:solidFill>
                <a:srgbClr val="D8B6A4"/>
              </a:solidFill>
              <a:cs typeface="Gelasio" panose="020B060402020202020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8E7849-DB8C-114D-CD50-A58F68441440}"/>
              </a:ext>
            </a:extLst>
          </p:cNvPr>
          <p:cNvSpPr txBox="1"/>
          <p:nvPr/>
        </p:nvSpPr>
        <p:spPr>
          <a:xfrm>
            <a:off x="469231" y="4421081"/>
            <a:ext cx="8049126" cy="494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>
              <a:lnSpc>
                <a:spcPts val="3300"/>
              </a:lnSpc>
              <a:spcAft>
                <a:spcPts val="1200"/>
              </a:spcAft>
              <a:buNone/>
            </a:pPr>
            <a:r>
              <a:rPr lang="en-US" sz="2200" b="1" i="0" dirty="0">
                <a:solidFill>
                  <a:srgbClr val="D8B6A4"/>
                </a:solidFill>
                <a:effectLst/>
                <a:latin typeface="Gelasio" panose="020B0604020202020204" charset="0"/>
                <a:cs typeface="Gelasio" panose="020B0604020202020204" charset="0"/>
              </a:rPr>
              <a:t>Earthquake dataset: </a:t>
            </a:r>
            <a:r>
              <a:rPr lang="en-US" sz="2200" b="0" i="0" dirty="0">
                <a:solidFill>
                  <a:srgbClr val="D8B6A4"/>
                </a:solidFill>
                <a:effectLst/>
                <a:latin typeface="Gelasio" panose="020B0604020202020204" charset="0"/>
                <a:cs typeface="Gelasio" panose="020B0604020202020204" charset="0"/>
              </a:rPr>
              <a:t>Seismic Research Dataset</a:t>
            </a:r>
            <a:endParaRPr lang="ru-RU" sz="2200" dirty="0">
              <a:solidFill>
                <a:srgbClr val="D8B6A4"/>
              </a:solidFill>
              <a:cs typeface="Gelasio" panose="020B06040202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BD602E-8F8D-0FF9-8F56-C741F24E7FA3}"/>
              </a:ext>
            </a:extLst>
          </p:cNvPr>
          <p:cNvSpPr txBox="1"/>
          <p:nvPr/>
        </p:nvSpPr>
        <p:spPr>
          <a:xfrm>
            <a:off x="469231" y="5142223"/>
            <a:ext cx="111051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dirty="0">
                <a:solidFill>
                  <a:srgbClr val="C9C2C0"/>
                </a:solidFill>
                <a:effectLst/>
                <a:latin typeface="Gelasio" panose="020B0604020202020204" charset="0"/>
                <a:cs typeface="Gelasio" panose="020B0604020202020204" charset="0"/>
              </a:rPr>
              <a:t>Datasets contain records of 782 earthquakes from 1/1/2001 to 1/1/2023</a:t>
            </a:r>
          </a:p>
          <a:p>
            <a:r>
              <a:rPr lang="en-US" sz="1600" dirty="0">
                <a:solidFill>
                  <a:srgbClr val="C9C2C0"/>
                </a:solidFill>
                <a:latin typeface="Gelasio" panose="020B0604020202020204" charset="0"/>
                <a:cs typeface="Gelasio" panose="020B0604020202020204" charset="0"/>
              </a:rPr>
              <a:t> </a:t>
            </a:r>
          </a:p>
          <a:p>
            <a:r>
              <a:rPr lang="en-US" sz="1600" dirty="0">
                <a:solidFill>
                  <a:srgbClr val="C9C2C0"/>
                </a:solidFill>
                <a:latin typeface="Gelasio" panose="020B0604020202020204" charset="0"/>
                <a:cs typeface="Gelasio" panose="020B0604020202020204" charset="0"/>
              </a:rPr>
              <a:t>Contains 13 different columns</a:t>
            </a:r>
          </a:p>
          <a:p>
            <a:endParaRPr lang="en-US" sz="1600" dirty="0">
              <a:solidFill>
                <a:srgbClr val="C9C2C0"/>
              </a:solidFill>
              <a:latin typeface="Gelasio" panose="020B0604020202020204" charset="0"/>
              <a:cs typeface="Gelasio" panose="020B0604020202020204" charset="0"/>
            </a:endParaRPr>
          </a:p>
          <a:p>
            <a:r>
              <a:rPr lang="en-US" sz="1600" dirty="0">
                <a:solidFill>
                  <a:srgbClr val="C9C2C0"/>
                </a:solidFill>
                <a:latin typeface="Gelasio" panose="020B0604020202020204" charset="0"/>
                <a:cs typeface="Gelasio" panose="020B0604020202020204" charset="0"/>
              </a:rPr>
              <a:t>Most important to us: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9C2C0"/>
                </a:solidFill>
                <a:latin typeface="Gelasio" panose="020B0604020202020204" charset="0"/>
                <a:cs typeface="Gelasio" panose="020B0604020202020204" charset="0"/>
              </a:rPr>
              <a:t>Date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9C2C0"/>
                </a:solidFill>
                <a:latin typeface="Gelasio" panose="020B0604020202020204" charset="0"/>
                <a:cs typeface="Gelasio" panose="020B0604020202020204" charset="0"/>
              </a:rPr>
              <a:t>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9C2C0"/>
                </a:solidFill>
                <a:latin typeface="Gelasio" panose="020B0604020202020204" charset="0"/>
                <a:cs typeface="Gelasio" panose="020B0604020202020204" charset="0"/>
              </a:rPr>
              <a:t>Magnitude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9C2C0"/>
                </a:solidFill>
                <a:latin typeface="Gelasio" panose="020B0604020202020204" charset="0"/>
                <a:cs typeface="Gelasio" panose="020B0604020202020204" charset="0"/>
              </a:rPr>
              <a:t>Location (continent and country)</a:t>
            </a:r>
            <a:endParaRPr lang="ru-RU" dirty="0">
              <a:solidFill>
                <a:srgbClr val="C9C2C0"/>
              </a:solidFill>
              <a:cs typeface="Gelasio" panose="020B060402020202020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52FF7E-DB20-4171-F62C-E82C90E58828}"/>
              </a:ext>
            </a:extLst>
          </p:cNvPr>
          <p:cNvSpPr txBox="1"/>
          <p:nvPr/>
        </p:nvSpPr>
        <p:spPr>
          <a:xfrm>
            <a:off x="806116" y="7712242"/>
            <a:ext cx="11839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9C2C0"/>
                </a:solidFill>
                <a:latin typeface="Gelasio" panose="020B0604020202020204" charset="0"/>
                <a:cs typeface="Gelasio" panose="020B0604020202020204" charset="0"/>
              </a:rPr>
              <a:t>https://www.kaggle.com/datasets/warcoder/earthquake-dataset?resource=download</a:t>
            </a:r>
            <a:endParaRPr lang="ru-RU" dirty="0">
              <a:solidFill>
                <a:srgbClr val="C9C2C0"/>
              </a:solidFill>
              <a:cs typeface="Gelasio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3243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2236"/>
            <a:ext cx="85066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anose="020B0604020202020204" charset="0"/>
                <a:ea typeface="Gelasio" pitchFamily="34" charset="-122"/>
                <a:cs typeface="Gelasio" panose="020B0604020202020204" charset="0"/>
              </a:rPr>
              <a:t>Key Insights</a:t>
            </a: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: Predictable Patterns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330" y="3574494"/>
            <a:ext cx="7825621" cy="7825621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2239" y="5780723"/>
            <a:ext cx="382667" cy="478393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2330" y="3574494"/>
            <a:ext cx="7825621" cy="7825621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3748" y="4313396"/>
            <a:ext cx="382667" cy="478393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2330" y="3574494"/>
            <a:ext cx="7825621" cy="7825621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65137" y="5780723"/>
            <a:ext cx="382667" cy="478393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1436489" y="307836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Magnitude Range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3568779"/>
            <a:ext cx="41207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Most earthquakes fall within a predictable magnitude range</a:t>
            </a:r>
          </a:p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cs typeface="Gelasio" pitchFamily="34" charset="-120"/>
              </a:rPr>
              <a:t>Between 5.5 and 9.5.</a:t>
            </a:r>
            <a:endParaRPr lang="en-US" sz="1750" dirty="0"/>
          </a:p>
        </p:txBody>
      </p:sp>
      <p:sp>
        <p:nvSpPr>
          <p:cNvPr id="11" name="Text 3"/>
          <p:cNvSpPr/>
          <p:nvPr/>
        </p:nvSpPr>
        <p:spPr>
          <a:xfrm>
            <a:off x="5897523" y="19046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Seismic Activity</a:t>
            </a:r>
            <a:endParaRPr lang="en-US" sz="2200" dirty="0"/>
          </a:p>
        </p:txBody>
      </p:sp>
      <p:sp>
        <p:nvSpPr>
          <p:cNvPr id="12" name="Text 4"/>
          <p:cNvSpPr/>
          <p:nvPr/>
        </p:nvSpPr>
        <p:spPr>
          <a:xfrm>
            <a:off x="5254704" y="2395061"/>
            <a:ext cx="41208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Some regions experience more frequent seismic activity; such as Turkey, Japan and some regions in California</a:t>
            </a:r>
            <a:endParaRPr lang="en-US" sz="1750" dirty="0"/>
          </a:p>
        </p:txBody>
      </p:sp>
      <p:sp>
        <p:nvSpPr>
          <p:cNvPr id="13" name="Text 5"/>
          <p:cNvSpPr/>
          <p:nvPr/>
        </p:nvSpPr>
        <p:spPr>
          <a:xfrm>
            <a:off x="10152340" y="3078361"/>
            <a:ext cx="32475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Patterns for Preparedness</a:t>
            </a:r>
            <a:endParaRPr lang="en-US" sz="2200" dirty="0"/>
          </a:p>
        </p:txBody>
      </p:sp>
      <p:sp>
        <p:nvSpPr>
          <p:cNvPr id="14" name="Text 6"/>
          <p:cNvSpPr/>
          <p:nvPr/>
        </p:nvSpPr>
        <p:spPr>
          <a:xfrm>
            <a:off x="9715738" y="3568779"/>
            <a:ext cx="41208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Identified patterns can guide disaster preparedness plans.</a:t>
            </a:r>
            <a:endParaRPr lang="en-US" sz="175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4ECE07D-ECC0-BCF1-5273-AEC48BB9B89F}"/>
              </a:ext>
            </a:extLst>
          </p:cNvPr>
          <p:cNvSpPr/>
          <p:nvPr/>
        </p:nvSpPr>
        <p:spPr>
          <a:xfrm>
            <a:off x="12670971" y="7824651"/>
            <a:ext cx="1959429" cy="404949"/>
          </a:xfrm>
          <a:prstGeom prst="rect">
            <a:avLst/>
          </a:prstGeom>
          <a:solidFill>
            <a:srgbClr val="464342"/>
          </a:solidFill>
          <a:ln>
            <a:solidFill>
              <a:srgbClr val="464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D2DAF0-0F07-9438-D9D6-D60ACE3FE916}"/>
              </a:ext>
            </a:extLst>
          </p:cNvPr>
          <p:cNvSpPr txBox="1"/>
          <p:nvPr/>
        </p:nvSpPr>
        <p:spPr>
          <a:xfrm>
            <a:off x="12031" y="7821004"/>
            <a:ext cx="360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D8B6A4"/>
                </a:solidFill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33557"/>
            <a:ext cx="5263753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000"/>
              </a:lnSpc>
              <a:buNone/>
            </a:pPr>
            <a:r>
              <a:rPr lang="en-US" sz="40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What else can be done?</a:t>
            </a:r>
            <a:endParaRPr lang="en-US" sz="4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1777603"/>
            <a:ext cx="1020723" cy="122479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20622" y="1981676"/>
            <a:ext cx="622958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Incorporate More Variables</a:t>
            </a:r>
            <a:endParaRPr lang="en-US" sz="16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002399"/>
            <a:ext cx="1020723" cy="122479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120622" y="3206472"/>
            <a:ext cx="622958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Develop Predictive Models for Impact Assessment</a:t>
            </a:r>
            <a:endParaRPr lang="en-US" sz="16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4227195"/>
            <a:ext cx="1020723" cy="1224796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120622" y="4431268"/>
            <a:ext cx="622958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Improve Visualization Tools for Real-time Decision-making</a:t>
            </a:r>
            <a:endParaRPr lang="en-US" sz="16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5451991"/>
            <a:ext cx="1020723" cy="194405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120622" y="5656064"/>
            <a:ext cx="6229588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Work on allerts about other disasters like tsunamis or volcanoes</a:t>
            </a:r>
            <a:endParaRPr lang="en-US" sz="2000" dirty="0"/>
          </a:p>
        </p:txBody>
      </p:sp>
      <p:sp>
        <p:nvSpPr>
          <p:cNvPr id="12" name="Text 5"/>
          <p:cNvSpPr/>
          <p:nvPr/>
        </p:nvSpPr>
        <p:spPr>
          <a:xfrm>
            <a:off x="2120622" y="6416159"/>
            <a:ext cx="622958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2120622" y="6865263"/>
            <a:ext cx="6229588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3D72D6-40E4-3636-AA17-0B4477C5B5D7}"/>
              </a:ext>
            </a:extLst>
          </p:cNvPr>
          <p:cNvSpPr txBox="1"/>
          <p:nvPr/>
        </p:nvSpPr>
        <p:spPr>
          <a:xfrm>
            <a:off x="120316" y="7860268"/>
            <a:ext cx="469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D8B6A4"/>
                </a:solidFill>
              </a:rP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995857"/>
            <a:ext cx="81404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Conclusion: Preparedness is Key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044797"/>
            <a:ext cx="4196358" cy="2024182"/>
          </a:xfrm>
          <a:prstGeom prst="roundRect">
            <a:avLst>
              <a:gd name="adj" fmla="val 1681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2"/>
          <p:cNvSpPr/>
          <p:nvPr/>
        </p:nvSpPr>
        <p:spPr>
          <a:xfrm>
            <a:off x="1020604" y="52716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Data-driven Strategies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5762030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Data-driven strategies can enhance disaster response.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5044797"/>
            <a:ext cx="4196358" cy="2024182"/>
          </a:xfrm>
          <a:prstGeom prst="roundRect">
            <a:avLst>
              <a:gd name="adj" fmla="val 1681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5443776" y="5271611"/>
            <a:ext cx="31659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Evidence-based Planning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43776" y="5762030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Preparedness plans should be based on patterns, not guesswork.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40133" y="5044797"/>
            <a:ext cx="4196358" cy="2024182"/>
          </a:xfrm>
          <a:prstGeom prst="roundRect">
            <a:avLst>
              <a:gd name="adj" fmla="val 1681"/>
            </a:avLst>
          </a:prstGeom>
          <a:solidFill>
            <a:srgbClr val="37343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9866948" y="5280183"/>
            <a:ext cx="37427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Future Work: Faster Response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66948" y="6124932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Future work: Improve models for faster response.</a:t>
            </a:r>
            <a:endParaRPr lang="en-US" sz="175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4862594-7566-6EE2-720C-2BA259F520D4}"/>
              </a:ext>
            </a:extLst>
          </p:cNvPr>
          <p:cNvSpPr/>
          <p:nvPr/>
        </p:nvSpPr>
        <p:spPr>
          <a:xfrm>
            <a:off x="12579531" y="7641771"/>
            <a:ext cx="2050869" cy="587829"/>
          </a:xfrm>
          <a:prstGeom prst="rect">
            <a:avLst/>
          </a:prstGeom>
          <a:solidFill>
            <a:srgbClr val="464342"/>
          </a:solidFill>
          <a:ln>
            <a:solidFill>
              <a:srgbClr val="464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8AA417-804C-F1B8-7FD2-F7234546DC4F}"/>
              </a:ext>
            </a:extLst>
          </p:cNvPr>
          <p:cNvSpPr txBox="1"/>
          <p:nvPr/>
        </p:nvSpPr>
        <p:spPr>
          <a:xfrm>
            <a:off x="144378" y="7804302"/>
            <a:ext cx="433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D8B6A4"/>
                </a:solidFill>
              </a:rPr>
              <a:t>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408878"/>
            <a:ext cx="59070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D8B6A4"/>
                </a:solidFill>
                <a:latin typeface="Gelasio" pitchFamily="34" charset="0"/>
                <a:cs typeface="Gelasio" pitchFamily="34" charset="-120"/>
              </a:rPr>
              <a:t>Thank You For Your Time!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45781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E2BBAAD-5FC3-88F5-C966-47A4021603FA}"/>
              </a:ext>
            </a:extLst>
          </p:cNvPr>
          <p:cNvSpPr/>
          <p:nvPr/>
        </p:nvSpPr>
        <p:spPr>
          <a:xfrm>
            <a:off x="12697097" y="7615646"/>
            <a:ext cx="1933303" cy="613954"/>
          </a:xfrm>
          <a:prstGeom prst="rect">
            <a:avLst/>
          </a:prstGeom>
          <a:solidFill>
            <a:srgbClr val="464342"/>
          </a:solidFill>
          <a:ln>
            <a:solidFill>
              <a:srgbClr val="4643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8CCEDD-800F-AF48-0296-34DE28BD986E}"/>
              </a:ext>
            </a:extLst>
          </p:cNvPr>
          <p:cNvSpPr txBox="1"/>
          <p:nvPr/>
        </p:nvSpPr>
        <p:spPr>
          <a:xfrm>
            <a:off x="192505" y="7736305"/>
            <a:ext cx="481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D8B6A4"/>
                </a:solidFill>
              </a:rP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2401</TotalTime>
  <Words>343</Words>
  <Application>Microsoft Office PowerPoint</Application>
  <PresentationFormat>Произвольный</PresentationFormat>
  <Paragraphs>76</Paragraphs>
  <Slides>9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Gelasio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Valeriya Mintseva</cp:lastModifiedBy>
  <cp:revision>5</cp:revision>
  <dcterms:created xsi:type="dcterms:W3CDTF">2025-03-05T21:25:34Z</dcterms:created>
  <dcterms:modified xsi:type="dcterms:W3CDTF">2025-03-27T12:48:30Z</dcterms:modified>
</cp:coreProperties>
</file>