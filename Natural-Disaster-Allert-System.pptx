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Gelasio" panose="020B0604020202020204" charset="0"/>
      <p:regular r:id="rId1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49" d="100"/>
          <a:sy n="49" d="100"/>
        </p:scale>
        <p:origin x="94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904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640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Natural Disaster Allert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32173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Welcome! Our team has been analyzing earthquake data to help improve disaster response strategies.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30268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By Valeriya Mintseva &amp; Matthias Gulas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76863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Challenge: Time is Critical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30487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Widespread Destruction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Earthquakes can cause significant damage and loss of life.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Response Delays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Emergency teams face delays due to a lack of predictive models.</a:t>
            </a:r>
            <a:endParaRPr lang="en-US" sz="175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D07F020-5C6C-B917-DE39-CB108C596876}"/>
              </a:ext>
            </a:extLst>
          </p:cNvPr>
          <p:cNvSpPr/>
          <p:nvPr/>
        </p:nvSpPr>
        <p:spPr>
          <a:xfrm>
            <a:off x="12618720" y="7785463"/>
            <a:ext cx="1907177" cy="444137"/>
          </a:xfrm>
          <a:prstGeom prst="rect">
            <a:avLst/>
          </a:prstGeom>
          <a:solidFill>
            <a:srgbClr val="464342"/>
          </a:solidFill>
          <a:ln>
            <a:solidFill>
              <a:srgbClr val="464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7399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Our Solution: Predictive Insights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48686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878860" y="352937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486864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Analyze Earthquake Data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4331613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 analyze historical earthquake data to find patterns and trends.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48686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4770537" y="352937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34868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Improve Preparedness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977283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Identify trends to enhance disaster preparedness strategies.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90228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78860" y="594479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9022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Data-driven Response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39270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 a data-driven response strategy to guide emergency teams.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310" y="2796540"/>
            <a:ext cx="3573780" cy="2636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178427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Progress: Data Collection &amp; Analysis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6535341" y="3541990"/>
            <a:ext cx="30480" cy="2903220"/>
          </a:xfrm>
          <a:prstGeom prst="roundRect">
            <a:avLst>
              <a:gd name="adj" fmla="val 111628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2"/>
          <p:cNvSpPr/>
          <p:nvPr/>
        </p:nvSpPr>
        <p:spPr>
          <a:xfrm>
            <a:off x="6760012" y="4037052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3"/>
          <p:cNvSpPr/>
          <p:nvPr/>
        </p:nvSpPr>
        <p:spPr>
          <a:xfrm>
            <a:off x="6280190" y="379714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4"/>
          <p:cNvSpPr/>
          <p:nvPr/>
        </p:nvSpPr>
        <p:spPr>
          <a:xfrm>
            <a:off x="6365260" y="383964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650" dirty="0"/>
          </a:p>
        </p:txBody>
      </p:sp>
      <p:sp>
        <p:nvSpPr>
          <p:cNvPr id="9" name="Text 5"/>
          <p:cNvSpPr/>
          <p:nvPr/>
        </p:nvSpPr>
        <p:spPr>
          <a:xfrm>
            <a:off x="7669411" y="3768804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Global Earthquake Data Collection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6760012" y="5080397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7"/>
          <p:cNvSpPr/>
          <p:nvPr/>
        </p:nvSpPr>
        <p:spPr>
          <a:xfrm>
            <a:off x="6280190" y="484048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8"/>
          <p:cNvSpPr/>
          <p:nvPr/>
        </p:nvSpPr>
        <p:spPr>
          <a:xfrm>
            <a:off x="6365260" y="488299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9"/>
          <p:cNvSpPr/>
          <p:nvPr/>
        </p:nvSpPr>
        <p:spPr>
          <a:xfrm>
            <a:off x="7669411" y="4812149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Cleaning and Processing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6760012" y="6123742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1"/>
          <p:cNvSpPr/>
          <p:nvPr/>
        </p:nvSpPr>
        <p:spPr>
          <a:xfrm>
            <a:off x="6280190" y="588383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2"/>
          <p:cNvSpPr/>
          <p:nvPr/>
        </p:nvSpPr>
        <p:spPr>
          <a:xfrm>
            <a:off x="6365260" y="592633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3"/>
          <p:cNvSpPr/>
          <p:nvPr/>
        </p:nvSpPr>
        <p:spPr>
          <a:xfrm>
            <a:off x="7669411" y="5855494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Trend Identification: Magnitude &amp; Location</a:t>
            </a:r>
            <a:endParaRPr lang="en-US" sz="175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E401DBF-562B-77DB-28E1-8F5763AFBB00}"/>
              </a:ext>
            </a:extLst>
          </p:cNvPr>
          <p:cNvSpPr/>
          <p:nvPr/>
        </p:nvSpPr>
        <p:spPr>
          <a:xfrm>
            <a:off x="12592594" y="7772400"/>
            <a:ext cx="2037806" cy="457200"/>
          </a:xfrm>
          <a:prstGeom prst="rect">
            <a:avLst/>
          </a:prstGeom>
          <a:solidFill>
            <a:srgbClr val="464342"/>
          </a:solidFill>
          <a:ln>
            <a:solidFill>
              <a:srgbClr val="464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2236"/>
            <a:ext cx="85066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Insights: Predictable Patterns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330" y="3574494"/>
            <a:ext cx="7825621" cy="782562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2239" y="5780723"/>
            <a:ext cx="382667" cy="478393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330" y="3574494"/>
            <a:ext cx="7825621" cy="7825621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3748" y="4313396"/>
            <a:ext cx="382667" cy="478393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2330" y="3574494"/>
            <a:ext cx="7825621" cy="7825621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5137" y="5780723"/>
            <a:ext cx="382667" cy="478393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436489" y="30783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Magnitude Range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3568779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Most earthquakes fall within a predictable magnitude range.</a:t>
            </a:r>
            <a:endParaRPr lang="en-US" sz="1750" dirty="0"/>
          </a:p>
        </p:txBody>
      </p:sp>
      <p:sp>
        <p:nvSpPr>
          <p:cNvPr id="11" name="Text 3"/>
          <p:cNvSpPr/>
          <p:nvPr/>
        </p:nvSpPr>
        <p:spPr>
          <a:xfrm>
            <a:off x="5897523" y="19046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Seismic Activity</a:t>
            </a:r>
            <a:endParaRPr lang="en-US" sz="2200" dirty="0"/>
          </a:p>
        </p:txBody>
      </p:sp>
      <p:sp>
        <p:nvSpPr>
          <p:cNvPr id="12" name="Text 4"/>
          <p:cNvSpPr/>
          <p:nvPr/>
        </p:nvSpPr>
        <p:spPr>
          <a:xfrm>
            <a:off x="5254704" y="2395061"/>
            <a:ext cx="41208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Some regions experience more frequent seismic activity.</a:t>
            </a:r>
            <a:endParaRPr lang="en-US" sz="1750" dirty="0"/>
          </a:p>
        </p:txBody>
      </p:sp>
      <p:sp>
        <p:nvSpPr>
          <p:cNvPr id="13" name="Text 5"/>
          <p:cNvSpPr/>
          <p:nvPr/>
        </p:nvSpPr>
        <p:spPr>
          <a:xfrm>
            <a:off x="10152340" y="3078361"/>
            <a:ext cx="32475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Patterns for Preparedness</a:t>
            </a:r>
            <a:endParaRPr lang="en-US" sz="2200" dirty="0"/>
          </a:p>
        </p:txBody>
      </p:sp>
      <p:sp>
        <p:nvSpPr>
          <p:cNvPr id="14" name="Text 6"/>
          <p:cNvSpPr/>
          <p:nvPr/>
        </p:nvSpPr>
        <p:spPr>
          <a:xfrm>
            <a:off x="9715738" y="3568779"/>
            <a:ext cx="41208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Identified patterns can guide disaster preparedness plans.</a:t>
            </a:r>
            <a:endParaRPr lang="en-US" sz="17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4ECE07D-ECC0-BCF1-5273-AEC48BB9B89F}"/>
              </a:ext>
            </a:extLst>
          </p:cNvPr>
          <p:cNvSpPr/>
          <p:nvPr/>
        </p:nvSpPr>
        <p:spPr>
          <a:xfrm>
            <a:off x="12670971" y="7824651"/>
            <a:ext cx="1959429" cy="404949"/>
          </a:xfrm>
          <a:prstGeom prst="rect">
            <a:avLst/>
          </a:prstGeom>
          <a:solidFill>
            <a:srgbClr val="464342"/>
          </a:solidFill>
          <a:ln>
            <a:solidFill>
              <a:srgbClr val="464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33557"/>
            <a:ext cx="5263753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else can be done?</a:t>
            </a:r>
            <a:endParaRPr lang="en-US" sz="4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1777603"/>
            <a:ext cx="1020723" cy="12247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20622" y="1981676"/>
            <a:ext cx="622958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Incorporate More Variables</a:t>
            </a:r>
            <a:endParaRPr lang="en-US" sz="16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002399"/>
            <a:ext cx="1020723" cy="122479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120622" y="3206472"/>
            <a:ext cx="622958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 Predictive Models for Impact Assessment</a:t>
            </a:r>
            <a:endParaRPr lang="en-US" sz="16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4227195"/>
            <a:ext cx="1020723" cy="122479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120622" y="4431268"/>
            <a:ext cx="622958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Improve Visualization Tools for Real-time Decision-making</a:t>
            </a:r>
            <a:endParaRPr lang="en-US" sz="16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5451991"/>
            <a:ext cx="1020723" cy="194405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120622" y="5656064"/>
            <a:ext cx="6229588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Work on allerts about other disasters like tsunamis or volcanoes</a:t>
            </a:r>
            <a:endParaRPr lang="en-US" sz="2000" dirty="0"/>
          </a:p>
        </p:txBody>
      </p:sp>
      <p:sp>
        <p:nvSpPr>
          <p:cNvPr id="12" name="Text 5"/>
          <p:cNvSpPr/>
          <p:nvPr/>
        </p:nvSpPr>
        <p:spPr>
          <a:xfrm>
            <a:off x="2120622" y="6416159"/>
            <a:ext cx="622958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2120622" y="6865263"/>
            <a:ext cx="622958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95857"/>
            <a:ext cx="81404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Conclusion: Preparedness is Key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044797"/>
            <a:ext cx="4196358" cy="2024182"/>
          </a:xfrm>
          <a:prstGeom prst="roundRect">
            <a:avLst>
              <a:gd name="adj" fmla="val 1681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1020604" y="52716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Data-driven Strategies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76203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Data-driven strategies can enhance disaster response.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5044797"/>
            <a:ext cx="4196358" cy="2024182"/>
          </a:xfrm>
          <a:prstGeom prst="roundRect">
            <a:avLst>
              <a:gd name="adj" fmla="val 1681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5443776" y="5271611"/>
            <a:ext cx="31659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Evidence-based Planning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43776" y="576203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Preparedness plans should be based on patterns, not guesswork.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5044797"/>
            <a:ext cx="4196358" cy="2024182"/>
          </a:xfrm>
          <a:prstGeom prst="roundRect">
            <a:avLst>
              <a:gd name="adj" fmla="val 1681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9866948" y="5271611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Future Work: Faster Response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66948" y="611636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Future work: Improve models for faster response.</a:t>
            </a:r>
            <a:endParaRPr lang="en-US" sz="17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4862594-7566-6EE2-720C-2BA259F520D4}"/>
              </a:ext>
            </a:extLst>
          </p:cNvPr>
          <p:cNvSpPr/>
          <p:nvPr/>
        </p:nvSpPr>
        <p:spPr>
          <a:xfrm>
            <a:off x="12579531" y="7641771"/>
            <a:ext cx="2050869" cy="587829"/>
          </a:xfrm>
          <a:prstGeom prst="rect">
            <a:avLst/>
          </a:prstGeom>
          <a:solidFill>
            <a:srgbClr val="464342"/>
          </a:solidFill>
          <a:ln>
            <a:solidFill>
              <a:srgbClr val="464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408878"/>
            <a:ext cx="59070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cs typeface="Gelasio" pitchFamily="34" charset="-120"/>
              </a:rPr>
              <a:t>Thank You For Your Time!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4578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E2BBAAD-5FC3-88F5-C966-47A4021603FA}"/>
              </a:ext>
            </a:extLst>
          </p:cNvPr>
          <p:cNvSpPr/>
          <p:nvPr/>
        </p:nvSpPr>
        <p:spPr>
          <a:xfrm>
            <a:off x="12697097" y="7615646"/>
            <a:ext cx="1933303" cy="613954"/>
          </a:xfrm>
          <a:prstGeom prst="rect">
            <a:avLst/>
          </a:prstGeom>
          <a:solidFill>
            <a:srgbClr val="464342"/>
          </a:solidFill>
          <a:ln>
            <a:solidFill>
              <a:srgbClr val="464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249</Words>
  <Application>Microsoft Office PowerPoint</Application>
  <PresentationFormat>Произвольный</PresentationFormat>
  <Paragraphs>53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Gelasio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Valeriya Mintseva</cp:lastModifiedBy>
  <cp:revision>2</cp:revision>
  <dcterms:created xsi:type="dcterms:W3CDTF">2025-03-05T21:25:34Z</dcterms:created>
  <dcterms:modified xsi:type="dcterms:W3CDTF">2025-03-05T21:27:05Z</dcterms:modified>
</cp:coreProperties>
</file>